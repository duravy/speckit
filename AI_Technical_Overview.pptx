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2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3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900" b="0" i="0" u="none" strike="noStrike">
                <a:solidFill>
                  <a:srgbClr val="64748B"/>
                </a:solidFill>
                <a:latin typeface="Arial"/>
              </a:rPr>
              <a:t>% Enterprise Adoption (illustrative trend)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Rule-Based Systems</c:v>
                </c:pt>
              </c:strCache>
            </c:strRef>
          </c:tx>
          <c:spPr>
            <a:ln w="31750" cap="flat">
              <a:solidFill>
                <a:srgbClr val="8B5CF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8B5CF6"/>
              </a:solidFill>
              <a:ln w="9525" cap="flat">
                <a:solidFill>
                  <a:srgbClr val="8B5CF6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2000</c:v>
                </c:pt>
                <c:pt idx="1">
                  <c:v>2003</c:v>
                </c:pt>
                <c:pt idx="2">
                  <c:v>2006</c:v>
                </c:pt>
                <c:pt idx="3">
                  <c:v>2009</c:v>
                </c:pt>
                <c:pt idx="4">
                  <c:v>2012</c:v>
                </c:pt>
                <c:pt idx="5">
                  <c:v>2015</c:v>
                </c:pt>
                <c:pt idx="6">
                  <c:v>2018</c:v>
                </c:pt>
                <c:pt idx="7">
                  <c:v>2021</c:v>
                </c:pt>
                <c:pt idx="8">
                  <c:v>2024</c:v>
                </c:pt>
                <c:pt idx="9">
                  <c:v>2025</c:v>
                </c:pt>
                <c:pt idx="10">
                  <c:v>2026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62</c:v>
                </c:pt>
                <c:pt idx="1">
                  <c:v>68</c:v>
                </c:pt>
                <c:pt idx="2">
                  <c:v>65</c:v>
                </c:pt>
                <c:pt idx="3">
                  <c:v>60</c:v>
                </c:pt>
                <c:pt idx="4">
                  <c:v>52</c:v>
                </c:pt>
                <c:pt idx="5">
                  <c:v>46</c:v>
                </c:pt>
                <c:pt idx="6">
                  <c:v>38</c:v>
                </c:pt>
                <c:pt idx="7">
                  <c:v>30</c:v>
                </c:pt>
                <c:pt idx="8">
                  <c:v>24</c:v>
                </c:pt>
                <c:pt idx="9">
                  <c:v>21</c:v>
                </c:pt>
                <c:pt idx="10">
                  <c:v>18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A08-416E-A701-DF1267EFD21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Classical ML (Predictive)</c:v>
                </c:pt>
              </c:strCache>
            </c:strRef>
          </c:tx>
          <c:spPr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2000</c:v>
                </c:pt>
                <c:pt idx="1">
                  <c:v>2003</c:v>
                </c:pt>
                <c:pt idx="2">
                  <c:v>2006</c:v>
                </c:pt>
                <c:pt idx="3">
                  <c:v>2009</c:v>
                </c:pt>
                <c:pt idx="4">
                  <c:v>2012</c:v>
                </c:pt>
                <c:pt idx="5">
                  <c:v>2015</c:v>
                </c:pt>
                <c:pt idx="6">
                  <c:v>2018</c:v>
                </c:pt>
                <c:pt idx="7">
                  <c:v>2021</c:v>
                </c:pt>
                <c:pt idx="8">
                  <c:v>2024</c:v>
                </c:pt>
                <c:pt idx="9">
                  <c:v>2025</c:v>
                </c:pt>
                <c:pt idx="10">
                  <c:v>2026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8</c:v>
                </c:pt>
                <c:pt idx="1">
                  <c:v>14</c:v>
                </c:pt>
                <c:pt idx="2">
                  <c:v>22</c:v>
                </c:pt>
                <c:pt idx="3">
                  <c:v>36</c:v>
                </c:pt>
                <c:pt idx="4">
                  <c:v>55</c:v>
                </c:pt>
                <c:pt idx="5">
                  <c:v>70</c:v>
                </c:pt>
                <c:pt idx="6">
                  <c:v>80</c:v>
                </c:pt>
                <c:pt idx="7">
                  <c:v>78</c:v>
                </c:pt>
                <c:pt idx="8">
                  <c:v>73</c:v>
                </c:pt>
                <c:pt idx="9">
                  <c:v>70</c:v>
                </c:pt>
                <c:pt idx="10">
                  <c:v>67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1A08-416E-A701-DF1267EFD21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Deep Learning</c:v>
                </c:pt>
              </c:strCache>
            </c:strRef>
          </c:tx>
          <c:spPr>
            <a:ln w="31750" cap="flat">
              <a:solidFill>
                <a:srgbClr val="06B6D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2000</c:v>
                </c:pt>
                <c:pt idx="1">
                  <c:v>2003</c:v>
                </c:pt>
                <c:pt idx="2">
                  <c:v>2006</c:v>
                </c:pt>
                <c:pt idx="3">
                  <c:v>2009</c:v>
                </c:pt>
                <c:pt idx="4">
                  <c:v>2012</c:v>
                </c:pt>
                <c:pt idx="5">
                  <c:v>2015</c:v>
                </c:pt>
                <c:pt idx="6">
                  <c:v>2018</c:v>
                </c:pt>
                <c:pt idx="7">
                  <c:v>2021</c:v>
                </c:pt>
                <c:pt idx="8">
                  <c:v>2024</c:v>
                </c:pt>
                <c:pt idx="9">
                  <c:v>2025</c:v>
                </c:pt>
                <c:pt idx="10">
                  <c:v>2026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5</c:v>
                </c:pt>
                <c:pt idx="5">
                  <c:v>20</c:v>
                </c:pt>
                <c:pt idx="6">
                  <c:v>48</c:v>
                </c:pt>
                <c:pt idx="7">
                  <c:v>64</c:v>
                </c:pt>
                <c:pt idx="8">
                  <c:v>70</c:v>
                </c:pt>
                <c:pt idx="9">
                  <c:v>73</c:v>
                </c:pt>
                <c:pt idx="10">
                  <c:v>74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1A08-416E-A701-DF1267EFD21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Generative AI</c:v>
                </c:pt>
              </c:strCache>
            </c:strRef>
          </c:tx>
          <c:spPr>
            <a:ln w="31750" cap="flat">
              <a:solidFill>
                <a:srgbClr val="10B98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2000</c:v>
                </c:pt>
                <c:pt idx="1">
                  <c:v>2003</c:v>
                </c:pt>
                <c:pt idx="2">
                  <c:v>2006</c:v>
                </c:pt>
                <c:pt idx="3">
                  <c:v>2009</c:v>
                </c:pt>
                <c:pt idx="4">
                  <c:v>2012</c:v>
                </c:pt>
                <c:pt idx="5">
                  <c:v>2015</c:v>
                </c:pt>
                <c:pt idx="6">
                  <c:v>2018</c:v>
                </c:pt>
                <c:pt idx="7">
                  <c:v>2021</c:v>
                </c:pt>
                <c:pt idx="8">
                  <c:v>2024</c:v>
                </c:pt>
                <c:pt idx="9">
                  <c:v>2025</c:v>
                </c:pt>
                <c:pt idx="10">
                  <c:v>2026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2</c:v>
                </c:pt>
                <c:pt idx="7">
                  <c:v>18</c:v>
                </c:pt>
                <c:pt idx="8">
                  <c:v>62</c:v>
                </c:pt>
                <c:pt idx="9">
                  <c:v>73</c:v>
                </c:pt>
                <c:pt idx="10">
                  <c:v>80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1A08-416E-A701-DF1267EFD2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900" b="0" i="0" u="none" strike="noStrike">
                <a:solidFill>
                  <a:srgbClr val="64748B"/>
                </a:solidFill>
                <a:latin typeface="Arial"/>
              </a:rPr>
              <a:t>Token Probability (%) at Different Temperatures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T=0.1  (near-deterministic)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"bonjour"</c:v>
                </c:pt>
                <c:pt idx="1">
                  <c:v>"salut"</c:v>
                </c:pt>
                <c:pt idx="2">
                  <c:v>"bonsoir"</c:v>
                </c:pt>
                <c:pt idx="3">
                  <c:v>"allô"</c:v>
                </c:pt>
                <c:pt idx="4">
                  <c:v>"hola"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8</c:v>
                </c:pt>
                <c:pt idx="2">
                  <c:v>3</c:v>
                </c:pt>
                <c:pt idx="3">
                  <c:v>1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02-4BC6-BE29-FED58C4BC7B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T=0.7  (balanced)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"bonjour"</c:v>
                </c:pt>
                <c:pt idx="1">
                  <c:v>"salut"</c:v>
                </c:pt>
                <c:pt idx="2">
                  <c:v>"bonsoir"</c:v>
                </c:pt>
                <c:pt idx="3">
                  <c:v>"allô"</c:v>
                </c:pt>
                <c:pt idx="4">
                  <c:v>"hola"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</c:v>
                </c:pt>
                <c:pt idx="1">
                  <c:v>28</c:v>
                </c:pt>
                <c:pt idx="2">
                  <c:v>15</c:v>
                </c:pt>
                <c:pt idx="3">
                  <c:v>8</c:v>
                </c:pt>
                <c:pt idx="4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302-4BC6-BE29-FED58C4BC7B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T=1.5  (creative / random)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"bonjour"</c:v>
                </c:pt>
                <c:pt idx="1">
                  <c:v>"salut"</c:v>
                </c:pt>
                <c:pt idx="2">
                  <c:v>"bonsoir"</c:v>
                </c:pt>
                <c:pt idx="3">
                  <c:v>"allô"</c:v>
                </c:pt>
                <c:pt idx="4">
                  <c:v>"hola"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28</c:v>
                </c:pt>
                <c:pt idx="1">
                  <c:v>24</c:v>
                </c:pt>
                <c:pt idx="2">
                  <c:v>22</c:v>
                </c:pt>
                <c:pt idx="3">
                  <c:v>16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302-4BC6-BE29-FED58C4BC7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905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0" y="-2011680"/>
            <a:ext cx="5486400" cy="5486400"/>
          </a:xfrm>
          <a:prstGeom prst="ellipse">
            <a:avLst/>
          </a:prstGeom>
          <a:solidFill>
            <a:srgbClr val="3B82F6">
              <a:alpha val="9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-457200"/>
            <a:ext cx="2926080" cy="2926080"/>
          </a:xfrm>
          <a:prstGeom prst="ellipse">
            <a:avLst/>
          </a:prstGeom>
          <a:solidFill>
            <a:srgbClr val="06B6D4">
              <a:alpha val="13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0" y="2926080"/>
            <a:ext cx="2011680" cy="2011680"/>
          </a:xfrm>
          <a:prstGeom prst="ellipse">
            <a:avLst/>
          </a:prstGeom>
          <a:solidFill>
            <a:srgbClr val="8B5CF6">
              <a:alpha val="13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9144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DEEP DIVE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28016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Rules to Reasoning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94360" y="2359152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 Guide to AI · Machine Learning · Deep Learning · Generative AI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090672"/>
            <a:ext cx="256032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3566160"/>
            <a:ext cx="1920240" cy="457200"/>
          </a:xfrm>
          <a:prstGeom prst="rect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5661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Intelligence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51760" y="3566160"/>
            <a:ext cx="1920240" cy="457200"/>
          </a:xfrm>
          <a:prstGeom prst="rect">
            <a:avLst/>
          </a:prstGeom>
          <a:solidFill>
            <a:srgbClr val="3B82F6">
              <a:alpha val="22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35661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3566160"/>
            <a:ext cx="1920240" cy="457200"/>
          </a:xfrm>
          <a:prstGeom prst="rect">
            <a:avLst/>
          </a:prstGeom>
          <a:solidFill>
            <a:srgbClr val="06B6D4">
              <a:alpha val="22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35661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3566160"/>
            <a:ext cx="1920240" cy="457200"/>
          </a:xfrm>
          <a:prstGeom prst="rect">
            <a:avLst/>
          </a:prstGeom>
          <a:solidFill>
            <a:srgbClr val="10B981">
              <a:alpha val="22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35661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475488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Foundation Series  ·  Technical Overview  ·  2025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01168"/>
            <a:ext cx="64008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Stack: Four Overlapping Paradigms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85953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914400"/>
            <a:ext cx="202996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914400"/>
            <a:ext cx="2029968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" y="1051560"/>
            <a:ext cx="658368" cy="658368"/>
          </a:xfrm>
          <a:prstGeom prst="ellipse">
            <a:avLst/>
          </a:prstGeom>
          <a:solidFill>
            <a:srgbClr val="8B5CF6">
              <a:alpha val="88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1832" y="105156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472" y="178308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Intelligence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0624" y="2221992"/>
            <a:ext cx="1700784" cy="219456"/>
          </a:xfrm>
          <a:prstGeom prst="rect">
            <a:avLst/>
          </a:prstGeom>
          <a:solidFill>
            <a:srgbClr val="8B5CF6">
              <a:alpha val="16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2221992"/>
            <a:ext cx="17007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1950s → present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5760" y="2514600"/>
            <a:ext cx="1810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broadest umbrella. Any technique enabling machines to simulate human-like intelligence or decision-making.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3383280"/>
            <a:ext cx="1810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TECHNIQUES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365760" y="3566160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Expert Systems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3785616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Search &amp; Planning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4005072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Knowledge Graphs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" y="4224528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Constraint Solvers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59736" y="914400"/>
            <a:ext cx="202996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459736" y="914400"/>
            <a:ext cx="2029968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45536" y="1051560"/>
            <a:ext cx="658368" cy="658368"/>
          </a:xfrm>
          <a:prstGeom prst="ellipse">
            <a:avLst/>
          </a:prstGeom>
          <a:solidFill>
            <a:srgbClr val="3B82F6">
              <a:alpha val="88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45536" y="105156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551176" y="178308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624328" y="2221992"/>
            <a:ext cx="1700784" cy="219456"/>
          </a:xfrm>
          <a:prstGeom prst="rect">
            <a:avLst/>
          </a:prstGeom>
          <a:solidFill>
            <a:srgbClr val="3B82F6">
              <a:alpha val="16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24328" y="2221992"/>
            <a:ext cx="17007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1980s → present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69464" y="2514600"/>
            <a:ext cx="1810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subset of AI. Systems learn patterns from data without being explicitly programmed for every scenario.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569464" y="3383280"/>
            <a:ext cx="1810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TECHNIQUES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569464" y="3566160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Linear/Logistic Regression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69464" y="3785616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Random Forests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569464" y="4005072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SVMs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569464" y="4224528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Gradient Boosting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914400"/>
            <a:ext cx="202996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914400"/>
            <a:ext cx="2029968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49240" y="1051560"/>
            <a:ext cx="658368" cy="658368"/>
          </a:xfrm>
          <a:prstGeom prst="ellipse">
            <a:avLst/>
          </a:prstGeom>
          <a:solidFill>
            <a:srgbClr val="06B6D4">
              <a:alpha val="8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49240" y="105156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754880" y="178308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828032" y="2221992"/>
            <a:ext cx="1700784" cy="219456"/>
          </a:xfrm>
          <a:prstGeom prst="rect">
            <a:avLst/>
          </a:prstGeom>
          <a:solidFill>
            <a:srgbClr val="06B6D4">
              <a:alpha val="16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28032" y="2221992"/>
            <a:ext cx="17007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 → present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73168" y="2514600"/>
            <a:ext cx="1810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subset of ML. Multi-layer neural nets automatically learn hierarchical representations from raw data.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73168" y="3383280"/>
            <a:ext cx="1810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TECHNIQUES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773168" y="3566160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CNNs (vision)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773168" y="3785616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RNNs / LSTMs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73168" y="4005072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Transformers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773168" y="4224528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Diffusion Models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867144" y="914400"/>
            <a:ext cx="202996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867144" y="914400"/>
            <a:ext cx="2029968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552944" y="1051560"/>
            <a:ext cx="658368" cy="658368"/>
          </a:xfrm>
          <a:prstGeom prst="ellipse">
            <a:avLst/>
          </a:prstGeom>
          <a:solidFill>
            <a:srgbClr val="10B981">
              <a:alpha val="88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52944" y="105156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958584" y="1783080"/>
            <a:ext cx="18470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031736" y="2221992"/>
            <a:ext cx="1700784" cy="219456"/>
          </a:xfrm>
          <a:prstGeom prst="rect">
            <a:avLst/>
          </a:prstGeom>
          <a:solidFill>
            <a:srgbClr val="10B981">
              <a:alpha val="16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31736" y="2221992"/>
            <a:ext cx="17007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→ present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976872" y="2514600"/>
            <a:ext cx="1810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deep learning (mainly Transformers) to generate new content: text, images, code, audio, and more.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976872" y="3383280"/>
            <a:ext cx="1810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TECHNIQUES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6976872" y="3566160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GPT-4 / Claude / Gemini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976872" y="3785616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DALL·E / Stable Diffusion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976872" y="4005072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GitHub Copilot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976872" y="4224528"/>
            <a:ext cx="1810512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Sora (video)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274320" y="475488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paradigm is a strict subset of the one to its left  —  GenAI ⊂ Deep Learning ⊂ ML ⊂ AI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01168"/>
            <a:ext cx="64008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Progression: From Hardcoded Rules to Learned Intelligence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85953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960120"/>
            <a:ext cx="20116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2011680" cy="5943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601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93192" y="1618488"/>
            <a:ext cx="1682496" cy="219456"/>
          </a:xfrm>
          <a:prstGeom prst="rect">
            <a:avLst/>
          </a:prstGeom>
          <a:solidFill>
            <a:srgbClr val="8B5CF6">
              <a:alpha val="17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618488"/>
            <a:ext cx="16824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1950s – 1990s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38328" y="1911096"/>
            <a:ext cx="411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38328" y="2057400"/>
            <a:ext cx="17922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Human-encoded IF/THEN logic, decision trees, and knowledge bases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8328" y="2587752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38328" y="2734056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Predictable, auditable, fully explainable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38328" y="324612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38328" y="3392424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Brittle on edge cases; expensive to maintain; doesn't scale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8328" y="390448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38328" y="4050792"/>
            <a:ext cx="17922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MYCIN (medical), IBM Deep Blue, airline booking systems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276856" y="1216152"/>
            <a:ext cx="100584" cy="91440"/>
          </a:xfrm>
          <a:prstGeom prst="rect">
            <a:avLst/>
          </a:prstGeom>
          <a:solidFill>
            <a:srgbClr val="94A3B8">
              <a:alpha val="6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14016" y="960120"/>
            <a:ext cx="20116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14016" y="960120"/>
            <a:ext cx="2011680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05456" y="9601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578608" y="1618488"/>
            <a:ext cx="1682496" cy="219456"/>
          </a:xfrm>
          <a:prstGeom prst="rect">
            <a:avLst/>
          </a:prstGeom>
          <a:solidFill>
            <a:srgbClr val="3B82F6">
              <a:alpha val="17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78608" y="1618488"/>
            <a:ext cx="16824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1990s – 2012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23744" y="1911096"/>
            <a:ext cx="411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523744" y="2057400"/>
            <a:ext cx="17922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models learn decision boundaries from labeled training data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523744" y="2587752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523744" y="2734056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 data; handles complexity rules cannot cover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23744" y="324612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523744" y="3392424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heavy feature engineering by domain experts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523744" y="390448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23744" y="4050792"/>
            <a:ext cx="17922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filters, credit scoring, recommendation engines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462272" y="1216152"/>
            <a:ext cx="100584" cy="91440"/>
          </a:xfrm>
          <a:prstGeom prst="rect">
            <a:avLst/>
          </a:prstGeom>
          <a:solidFill>
            <a:srgbClr val="94A3B8">
              <a:alpha val="6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99432" y="960120"/>
            <a:ext cx="20116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6B6D4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99432" y="960120"/>
            <a:ext cx="2011680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90872" y="9601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764024" y="1618488"/>
            <a:ext cx="1682496" cy="219456"/>
          </a:xfrm>
          <a:prstGeom prst="rect">
            <a:avLst/>
          </a:prstGeom>
          <a:solidFill>
            <a:srgbClr val="06B6D4">
              <a:alpha val="17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64024" y="1618488"/>
            <a:ext cx="16824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 – 2020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09160" y="1911096"/>
            <a:ext cx="411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709160" y="2057400"/>
            <a:ext cx="17922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neural nets automatically learn raw feature hierarchies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709160" y="2587752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4709160" y="2734056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feature extraction; near-human on vision &amp; speech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09160" y="324612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709160" y="3392424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massive data; black-box; expensive GPU compute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709160" y="390448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4709160" y="4050792"/>
            <a:ext cx="17922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AlexNet (ImageNet), AlphaGo, speech recognition (ASR)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647688" y="1216152"/>
            <a:ext cx="100584" cy="91440"/>
          </a:xfrm>
          <a:prstGeom prst="rect">
            <a:avLst/>
          </a:prstGeom>
          <a:solidFill>
            <a:srgbClr val="94A3B8">
              <a:alpha val="6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784848" y="960120"/>
            <a:ext cx="201168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784848" y="960120"/>
            <a:ext cx="2011680" cy="594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6288" y="9601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949440" y="1618488"/>
            <a:ext cx="1682496" cy="219456"/>
          </a:xfrm>
          <a:prstGeom prst="rect">
            <a:avLst/>
          </a:prstGeom>
          <a:solidFill>
            <a:srgbClr val="10B981">
              <a:alpha val="17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1618488"/>
            <a:ext cx="16824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– Present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6894576" y="1911096"/>
            <a:ext cx="411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6894576" y="2057400"/>
            <a:ext cx="17922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models pre-trained on internet-scale data; prompted at runtime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94576" y="2587752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894576" y="2734056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General-purpose; few/zero-shot; multi-modal; fast iteration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894576" y="324612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894576" y="3392424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Hallucinations; non-determinism; data governance challenges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894576" y="390448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894576" y="4050792"/>
            <a:ext cx="17922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GPT-4, Claude, Gemini, DALL·E, Stable Diffusion, Copilot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01168"/>
            <a:ext cx="64008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Adoption: How Organisations Typically Progress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85953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Chart 0"/>
          <p:cNvGraphicFramePr/>
          <p:nvPr/>
        </p:nvGraphicFramePr>
        <p:xfrm>
          <a:off x="274320" y="896112"/>
          <a:ext cx="548640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989320" y="960120"/>
            <a:ext cx="420624" cy="42062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89320" y="9601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92240" y="9418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First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92240" y="120700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reporting &amp; rule-based systems to build data infrastructure and governance.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163056" y="1417320"/>
            <a:ext cx="73152" cy="4297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89320" y="1874520"/>
            <a:ext cx="420624" cy="42062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89320" y="18745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92240" y="18562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Operationalise ML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92240" y="212140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models in prod: churn, fraud detection, demand forecasting, recommendations.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3056" y="2331720"/>
            <a:ext cx="73152" cy="4297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89320" y="2788920"/>
            <a:ext cx="420624" cy="42062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7889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92240" y="27706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Deep Learning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92240" y="303580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vision, NLP, speech — requires significant MLOps and infra investment.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163056" y="3246120"/>
            <a:ext cx="73152" cy="4297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989320" y="3703320"/>
            <a:ext cx="420624" cy="42062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89320" y="37033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92240" y="36850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Integration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92240" y="395020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for copilots, search, code gen, content, and agentic automation workflows.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-1645920"/>
            <a:ext cx="5029200" cy="5029200"/>
          </a:xfrm>
          <a:prstGeom prst="ellipse">
            <a:avLst/>
          </a:prstGeom>
          <a:solidFill>
            <a:srgbClr val="3B82F6">
              <a:alpha val="9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0" y="2286000"/>
            <a:ext cx="2743200" cy="2743200"/>
          </a:xfrm>
          <a:prstGeom prst="ellipse">
            <a:avLst/>
          </a:prstGeom>
          <a:solidFill>
            <a:srgbClr val="06B6D4">
              <a:alpha val="11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5156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 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77724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7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AI</a:t>
            </a:r>
            <a:endParaRPr lang="en-US" sz="3700" dirty="0"/>
          </a:p>
          <a:p>
            <a:pPr marL="0" indent="0" algn="l">
              <a:buNone/>
            </a:pPr>
            <a:r>
              <a:rPr lang="en-US" sz="37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Generative AI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594360" y="3090672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fundamentally different problem framings, training objectives, and output types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3794760"/>
            <a:ext cx="256032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01168"/>
            <a:ext cx="64008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AI vs Generative AI: Two Different Objectives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85953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914400"/>
            <a:ext cx="4023360" cy="3995928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914400"/>
            <a:ext cx="4023360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9144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" y="1453896"/>
            <a:ext cx="4023360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499616"/>
            <a:ext cx="1143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08760" y="1499616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input X → deterministic label / value 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472" y="1929384"/>
            <a:ext cx="1143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508760" y="1929384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learning on human-labeled datasets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6032" y="2313432"/>
            <a:ext cx="4023360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" y="2359152"/>
            <a:ext cx="1143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type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508760" y="2359152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Fixed: class, probability score, or numeric value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7472" y="2788920"/>
            <a:ext cx="1143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Deterministic?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508760" y="27889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same input always produces same prediction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" y="3172968"/>
            <a:ext cx="4023360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" y="3218688"/>
            <a:ext cx="1143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508760" y="3218688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Expressed as confidence scores / prediction intervals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7472" y="3648456"/>
            <a:ext cx="1143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tasks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508760" y="3648456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Classification, regression, ranking, anomaly detection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6032" y="4032504"/>
            <a:ext cx="4023360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4078224"/>
            <a:ext cx="1143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508760" y="4078224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prediction, fraud detection, demand forecasting,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engines, medical diagnosis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7472" y="4507992"/>
            <a:ext cx="1143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508760" y="4507992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AUC-ROC, RMSE, Precision / Recall / F1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0" y="914400"/>
            <a:ext cx="4297680" cy="3995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0" y="914400"/>
            <a:ext cx="429768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0" y="914400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0" y="1453896"/>
            <a:ext cx="4297680" cy="429768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1499616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916168" y="1499616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distribution P(X); sample new plausible instances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663440" y="1929384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916168" y="1929384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Self-supervised on massive unlabelled corpora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0" y="2313432"/>
            <a:ext cx="4297680" cy="429768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23591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type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916168" y="235915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Open-ended: text, image, code, audio, video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663440" y="2788920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Deterministic?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916168" y="2788920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probabilistic; same prompt → varied outputs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0" y="3172968"/>
            <a:ext cx="4297680" cy="429768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63440" y="3218688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916168" y="321868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in output diversity; hard to bound precisely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663440" y="3648456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tasks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916168" y="3648456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generation, summarisation, Q&amp;A, code completion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0" y="4032504"/>
            <a:ext cx="4297680" cy="429768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0" y="4078224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916168" y="4078224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GPT-4, Claude, Gemini, DALL·E, Stable Diffusion,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Copilot, Sora (video)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663440" y="450799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916168" y="450799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BLEU, ROUGE, human eval, task-specific benchmarks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-914400"/>
            <a:ext cx="5029200" cy="5029200"/>
          </a:xfrm>
          <a:prstGeom prst="ellipse">
            <a:avLst/>
          </a:prstGeom>
          <a:solidFill>
            <a:srgbClr val="F59E0B">
              <a:alpha val="8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05156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 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77724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7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LLMs</a:t>
            </a:r>
            <a:endParaRPr lang="en-US" sz="3700" dirty="0"/>
          </a:p>
          <a:p>
            <a:pPr marL="0" indent="0" algn="l">
              <a:buNone/>
            </a:pPr>
            <a:r>
              <a:rPr lang="en-US" sz="37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Do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594360" y="3090672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Spoiler: it's not a lookup table — it's probability over token sequences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3794760"/>
            <a:ext cx="256032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01168"/>
            <a:ext cx="64008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LLMs: Probability Distributions Over Tokens, Not Fixed Logic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85953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" y="1005840"/>
            <a:ext cx="155448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1005840"/>
            <a:ext cx="155448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1115568"/>
            <a:ext cx="14081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" y="1527048"/>
            <a:ext cx="14081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"Translate to French: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Hello"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773936" y="1600200"/>
            <a:ext cx="109728" cy="73152"/>
          </a:xfrm>
          <a:prstGeom prst="rect">
            <a:avLst/>
          </a:prstGeom>
          <a:solidFill>
            <a:srgbClr val="94A3B8">
              <a:alpha val="65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20240" y="1005840"/>
            <a:ext cx="155448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20240" y="1005840"/>
            <a:ext cx="155448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93392" y="1115568"/>
            <a:ext cx="14081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93392" y="1527048"/>
            <a:ext cx="14081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integer IDs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(BPE / WordPiece)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511296" y="1600200"/>
            <a:ext cx="109728" cy="73152"/>
          </a:xfrm>
          <a:prstGeom prst="rect">
            <a:avLst/>
          </a:prstGeom>
          <a:solidFill>
            <a:srgbClr val="94A3B8">
              <a:alpha val="65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0" y="1005840"/>
            <a:ext cx="155448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06B6D4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0" y="1005840"/>
            <a:ext cx="155448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30752" y="1115568"/>
            <a:ext cx="14081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Pass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30752" y="1527048"/>
            <a:ext cx="14081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across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context window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248656" y="1600200"/>
            <a:ext cx="109728" cy="73152"/>
          </a:xfrm>
          <a:prstGeom prst="rect">
            <a:avLst/>
          </a:prstGeom>
          <a:solidFill>
            <a:srgbClr val="94A3B8">
              <a:alpha val="65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94960" y="1005840"/>
            <a:ext cx="155448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94960" y="1005840"/>
            <a:ext cx="155448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68112" y="1115568"/>
            <a:ext cx="14081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68112" y="1527048"/>
            <a:ext cx="14081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P(next token)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~50K–100K vocab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986016" y="1600200"/>
            <a:ext cx="109728" cy="73152"/>
          </a:xfrm>
          <a:prstGeom prst="rect">
            <a:avLst/>
          </a:prstGeom>
          <a:solidFill>
            <a:srgbClr val="94A3B8">
              <a:alpha val="65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0" y="1005840"/>
            <a:ext cx="155448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132320" y="1005840"/>
            <a:ext cx="1554480" cy="640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05472" y="1115568"/>
            <a:ext cx="14081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05472" y="1527048"/>
            <a:ext cx="14081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token; append;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EOS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56032" y="2487168"/>
            <a:ext cx="8631936" cy="960120"/>
          </a:xfrm>
          <a:prstGeom prst="rect">
            <a:avLst/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56032" y="2487168"/>
            <a:ext cx="64008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" y="2542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11480" y="2798064"/>
            <a:ext cx="832104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does NOT retrieve stored answers from a database. At each decoding step, it runs a full forward pass through billions of parameters and computes a probability distribution over its entire vocabulary (~50K–100K tokens). It samples one token, appends it to the context, and repeats — constructing the response token-by-token. This makes LLMs powerful generalisers but inherently non-deterministic and stateless.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P(next token | "Translate to French: Hello →")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14400" y="4133088"/>
            <a:ext cx="475488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393192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77824" y="467258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"bonjour"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481328" y="4338828"/>
            <a:ext cx="475488" cy="2971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481328" y="413766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444752" y="467258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"salut"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048256" y="4475988"/>
            <a:ext cx="475488" cy="1600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48256" y="427482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011680" y="467258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"bonsoir"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615184" y="4544568"/>
            <a:ext cx="475488" cy="91440"/>
          </a:xfrm>
          <a:prstGeom prst="rect">
            <a:avLst/>
          </a:prstGeom>
          <a:solidFill>
            <a:srgbClr val="8B5CF6">
              <a:alpha val="6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15184" y="434340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78608" y="467258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"allô"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182112" y="4578858"/>
            <a:ext cx="475488" cy="57150"/>
          </a:xfrm>
          <a:prstGeom prst="rect">
            <a:avLst/>
          </a:prstGeom>
          <a:solidFill>
            <a:srgbClr val="F59E0B">
              <a:alpha val="6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82112" y="437769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145536" y="467258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"hola"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749040" y="4601718"/>
            <a:ext cx="475488" cy="34290"/>
          </a:xfrm>
          <a:prstGeom prst="rect">
            <a:avLst/>
          </a:prstGeom>
          <a:solidFill>
            <a:srgbClr val="94A3B8">
              <a:alpha val="6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49040" y="440055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712464" y="467258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"other"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01168"/>
            <a:ext cx="64008" cy="5029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Embeddings: How Tokens Become Meaningful Vectors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85953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960120"/>
            <a:ext cx="4023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token ID enters the model, it is mapped to a dense vector — hundreds of floating-point numbers encoding semantic meaning. Words with similar meanings cluster in this high-dimensional mathematical space.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56032" y="1783080"/>
            <a:ext cx="4023360" cy="2743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17830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ARITHMETIC  (Vector Operations)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6032" y="2121408"/>
            <a:ext cx="4023360" cy="438912"/>
          </a:xfrm>
          <a:prstGeom prst="rect">
            <a:avLst/>
          </a:prstGeom>
          <a:solidFill>
            <a:srgbClr val="8B5CF6">
              <a:alpha val="1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2121408"/>
            <a:ext cx="54864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2121408"/>
            <a:ext cx="3803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King  −  Man  +  Woman  =  Queen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" y="2633472"/>
            <a:ext cx="4023360" cy="438912"/>
          </a:xfrm>
          <a:prstGeom prst="rect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2633472"/>
            <a:ext cx="54864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633472"/>
            <a:ext cx="3803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Paris  −  France  +  Japan  =  Tokyo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6032" y="3145536"/>
            <a:ext cx="4023360" cy="438912"/>
          </a:xfrm>
          <a:prstGeom prst="rect">
            <a:avLst/>
          </a:prstGeom>
          <a:solidFill>
            <a:srgbClr val="06B6D4">
              <a:alpha val="12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3145536"/>
            <a:ext cx="54864" cy="43891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3145536"/>
            <a:ext cx="3803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"Paris is to France as Tokyo is to Japan"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6032" y="3694176"/>
            <a:ext cx="4023360" cy="1115568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" y="3694176"/>
            <a:ext cx="54864" cy="11155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37490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Static Embedding Problem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84048" y="4005072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embeddings give "Apple" one fixed coordinate regardless of context — fruit or tech company? This is solved by Self-Attention, which dynamically shifts a token's representation based on surrounding words.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480560" y="960120"/>
            <a:ext cx="4407408" cy="384962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987552"/>
            <a:ext cx="4315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Vector Space  (simplified 2D projection)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92240" y="1325880"/>
            <a:ext cx="2148840" cy="1234440"/>
          </a:xfrm>
          <a:prstGeom prst="ellipse">
            <a:avLst/>
          </a:prstGeom>
          <a:solidFill>
            <a:srgbClr val="8B5CF6">
              <a:alpha val="10000"/>
            </a:srgbClr>
          </a:solidFill>
          <a:ln w="12700">
            <a:solidFill>
              <a:srgbClr val="8B5CF6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1344168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Royalty / Gender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64808" y="1481328"/>
            <a:ext cx="420624" cy="237744"/>
          </a:xfrm>
          <a:prstGeom prst="ellipse">
            <a:avLst/>
          </a:prstGeom>
          <a:solidFill>
            <a:srgbClr val="8B5CF6">
              <a:alpha val="85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64808" y="1481328"/>
            <a:ext cx="4206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287768" y="1481328"/>
            <a:ext cx="420624" cy="237744"/>
          </a:xfrm>
          <a:prstGeom prst="ellipse">
            <a:avLst/>
          </a:prstGeom>
          <a:solidFill>
            <a:srgbClr val="8B5CF6">
              <a:alpha val="85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87768" y="1481328"/>
            <a:ext cx="4206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64808" y="1874520"/>
            <a:ext cx="420624" cy="237744"/>
          </a:xfrm>
          <a:prstGeom prst="ellipse">
            <a:avLst/>
          </a:prstGeom>
          <a:solidFill>
            <a:srgbClr val="8B5CF6">
              <a:alpha val="85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64808" y="1874520"/>
            <a:ext cx="4206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287768" y="1874520"/>
            <a:ext cx="420624" cy="237744"/>
          </a:xfrm>
          <a:prstGeom prst="ellipse">
            <a:avLst/>
          </a:prstGeom>
          <a:solidFill>
            <a:srgbClr val="8B5CF6">
              <a:alpha val="85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87768" y="1874520"/>
            <a:ext cx="4206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Woman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00800" y="2304288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King − Man + Woman = Queen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132320" y="2606040"/>
            <a:ext cx="1645920" cy="9601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7178040" y="2633472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013448" y="2798064"/>
            <a:ext cx="512064" cy="256032"/>
          </a:xfrm>
          <a:prstGeom prst="ellipse">
            <a:avLst/>
          </a:prstGeom>
          <a:solidFill>
            <a:srgbClr val="06B6D4">
              <a:alpha val="8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13448" y="2798064"/>
            <a:ext cx="512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Tennis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772400" y="2798064"/>
            <a:ext cx="512064" cy="256032"/>
          </a:xfrm>
          <a:prstGeom prst="ellipse">
            <a:avLst/>
          </a:prstGeom>
          <a:solidFill>
            <a:srgbClr val="06B6D4">
              <a:alpha val="8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0" y="2798064"/>
            <a:ext cx="512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Racket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572000" y="2606040"/>
            <a:ext cx="2011680" cy="1143000"/>
          </a:xfrm>
          <a:prstGeom prst="ellipse">
            <a:avLst/>
          </a:prstGeom>
          <a:solidFill>
            <a:srgbClr val="10B981">
              <a:alpha val="10000"/>
            </a:srgbClr>
          </a:solidFill>
          <a:ln w="12700">
            <a:solidFill>
              <a:srgbClr val="10B981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4617720" y="2633472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572000" y="2798064"/>
            <a:ext cx="457200" cy="256032"/>
          </a:xfrm>
          <a:prstGeom prst="ellipse">
            <a:avLst/>
          </a:prstGeom>
          <a:solidFill>
            <a:srgbClr val="10B981">
              <a:alpha val="8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0" y="279806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0" y="3209544"/>
            <a:ext cx="457200" cy="256032"/>
          </a:xfrm>
          <a:prstGeom prst="ellipse">
            <a:avLst/>
          </a:prstGeom>
          <a:solidFill>
            <a:srgbClr val="10B981">
              <a:alpha val="8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0" y="320954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2798064"/>
            <a:ext cx="457200" cy="256032"/>
          </a:xfrm>
          <a:prstGeom prst="ellipse">
            <a:avLst/>
          </a:prstGeom>
          <a:solidFill>
            <a:srgbClr val="10B981">
              <a:alpha val="8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40680" y="279806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440680" y="3209544"/>
            <a:ext cx="457200" cy="256032"/>
          </a:xfrm>
          <a:prstGeom prst="ellipse">
            <a:avLst/>
          </a:prstGeom>
          <a:solidFill>
            <a:srgbClr val="10B981">
              <a:alpha val="8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40680" y="320954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13248" y="1847088"/>
            <a:ext cx="512064" cy="256032"/>
          </a:xfrm>
          <a:prstGeom prst="ellipse">
            <a:avLst/>
          </a:prstGeom>
          <a:solidFill>
            <a:srgbClr val="F59E0B">
              <a:alpha val="8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13248" y="1847088"/>
            <a:ext cx="5120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138928" y="2139696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?? no context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4480560" y="4206240"/>
            <a:ext cx="44074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dimensions: 512 (GPT-2)  ·  1,600 (GPT-3)  ·  12,288 (GPT-4 estimated)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01168"/>
            <a:ext cx="64008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Self-Attention: Context-Aware Meaning Through Q, K, V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85953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896112"/>
            <a:ext cx="8631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simultaneously asks for context (Query), advertises its information (Key), and delivers meaning (Value). This transforms static embeddings into context-dependent representations.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926080" y="1298448"/>
            <a:ext cx="3291840" cy="38404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926080" y="12984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Attention(Q, K, V)  =  softmax( QKᵀ / √dₖ ) · V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6032" y="1783080"/>
            <a:ext cx="2852928" cy="144475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1783080"/>
            <a:ext cx="2852928" cy="5029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856232"/>
            <a:ext cx="365760" cy="365760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8562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0392" y="1892808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" y="23317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do I need to understand my own context?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472" y="276148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"Apple" asks: what words around me define what I am?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18688" y="1783080"/>
            <a:ext cx="2852928" cy="1444752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18688" y="1783080"/>
            <a:ext cx="2852928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46704" y="1856232"/>
            <a:ext cx="365760" cy="365760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46704" y="18562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13048" y="1892808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10128" y="23317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context information do I have to advertise?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10128" y="276148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"ate" broadcasts: I am a food/consumption verb.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81344" y="1783080"/>
            <a:ext cx="2852928" cy="1444752"/>
          </a:xfrm>
          <a:prstGeom prst="rect">
            <a:avLst/>
          </a:prstGeom>
          <a:solidFill>
            <a:srgbClr val="FFFFFF"/>
          </a:solidFill>
          <a:ln w="19050">
            <a:solidFill>
              <a:srgbClr val="06B6D4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81344" y="1783080"/>
            <a:ext cx="2852928" cy="5029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9360" y="1856232"/>
            <a:ext cx="365760" cy="365760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18562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75704" y="1892808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72784" y="23317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meaning payload do I deliver when attended to?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2784" y="276148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contextual vector transferred to the querying token.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56032" y="3337560"/>
            <a:ext cx="8631936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6032" y="3337560"/>
            <a:ext cx="8631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in Action: Resolving the Apple Ambiguity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032" y="3657600"/>
            <a:ext cx="411480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56032" y="3657600"/>
            <a:ext cx="64008" cy="12070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37033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 ate an Apple."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11480" y="3977640"/>
            <a:ext cx="3794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"ate" has a high Key match (food/consumption). Apple's Query scores highest against food-related Keys. Its Value vector shifts toward the food cluster. Final contextual representation: fruit.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663440" y="3657600"/>
            <a:ext cx="422452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657600"/>
            <a:ext cx="64008" cy="1207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18888" y="37033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 bought Apple stock."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18888" y="3977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"bought" and "stock" have high Key matches (finance/trading). Apple's Query scores highest against finance Keys. Its Value vector shifts toward the finance cluster. Final contextual representation: company.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01168"/>
            <a:ext cx="64008" cy="5029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Attention &amp; the Decoder Block Architecture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85953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896112"/>
            <a:ext cx="8631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attention head is not enough. Multiple heads run in parallel, each specialising in a different linguistic dimension. These feed into the full decoder block, stacked N times.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56032" y="1316736"/>
            <a:ext cx="4224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ATTENTION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1645920"/>
            <a:ext cx="4224528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1645920"/>
            <a:ext cx="64008" cy="6400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1810512"/>
            <a:ext cx="338328" cy="320040"/>
          </a:xfrm>
          <a:prstGeom prst="rect">
            <a:avLst/>
          </a:prstGeom>
          <a:solidFill>
            <a:srgbClr val="8B5CF6">
              <a:alpha val="3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81051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13816" y="1810512"/>
            <a:ext cx="338328" cy="320040"/>
          </a:xfrm>
          <a:prstGeom prst="rect">
            <a:avLst/>
          </a:prstGeom>
          <a:solidFill>
            <a:srgbClr val="8B5CF6">
              <a:alpha val="3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181051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16152" y="1810512"/>
            <a:ext cx="338328" cy="320040"/>
          </a:xfrm>
          <a:prstGeom prst="rect">
            <a:avLst/>
          </a:prstGeom>
          <a:solidFill>
            <a:srgbClr val="8B5CF6">
              <a:alpha val="3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16152" y="181051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618488" y="1810512"/>
            <a:ext cx="338328" cy="320040"/>
          </a:xfrm>
          <a:prstGeom prst="rect">
            <a:avLst/>
          </a:prstGeom>
          <a:solidFill>
            <a:srgbClr val="8B5CF6">
              <a:alpha val="3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18488" y="181051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21408" y="1737360"/>
            <a:ext cx="2240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1: Grammar &amp; Syntax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21408" y="1993392"/>
            <a:ext cx="2240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Subject-verb agreement, clause boundaries, parse structure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56032" y="2377440"/>
            <a:ext cx="4224528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3B82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56032" y="2377440"/>
            <a:ext cx="64008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542032"/>
            <a:ext cx="338328" cy="320040"/>
          </a:xfrm>
          <a:prstGeom prst="rect">
            <a:avLst/>
          </a:prstGeom>
          <a:solidFill>
            <a:srgbClr val="3B82F6">
              <a:alpha val="32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54203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813816" y="2542032"/>
            <a:ext cx="338328" cy="320040"/>
          </a:xfrm>
          <a:prstGeom prst="rect">
            <a:avLst/>
          </a:prstGeom>
          <a:solidFill>
            <a:srgbClr val="3B82F6">
              <a:alpha val="32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3816" y="254203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16152" y="2542032"/>
            <a:ext cx="338328" cy="320040"/>
          </a:xfrm>
          <a:prstGeom prst="rect">
            <a:avLst/>
          </a:prstGeom>
          <a:solidFill>
            <a:srgbClr val="3B82F6">
              <a:alpha val="32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16152" y="254203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618488" y="2542032"/>
            <a:ext cx="338328" cy="320040"/>
          </a:xfrm>
          <a:prstGeom prst="rect">
            <a:avLst/>
          </a:prstGeom>
          <a:solidFill>
            <a:srgbClr val="3B82F6">
              <a:alpha val="32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18488" y="254203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121408" y="2468880"/>
            <a:ext cx="2240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2: Tone &amp; Sentiment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121408" y="2724912"/>
            <a:ext cx="2240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valence, formality level, positive/negative framing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56032" y="3108960"/>
            <a:ext cx="4224528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06B6D4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56032" y="3108960"/>
            <a:ext cx="64008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" y="3273552"/>
            <a:ext cx="338328" cy="320040"/>
          </a:xfrm>
          <a:prstGeom prst="rect">
            <a:avLst/>
          </a:prstGeom>
          <a:solidFill>
            <a:srgbClr val="06B6D4">
              <a:alpha val="32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480" y="327355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13816" y="3273552"/>
            <a:ext cx="338328" cy="320040"/>
          </a:xfrm>
          <a:prstGeom prst="rect">
            <a:avLst/>
          </a:prstGeom>
          <a:solidFill>
            <a:srgbClr val="06B6D4">
              <a:alpha val="32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3816" y="327355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216152" y="3273552"/>
            <a:ext cx="338328" cy="320040"/>
          </a:xfrm>
          <a:prstGeom prst="rect">
            <a:avLst/>
          </a:prstGeom>
          <a:solidFill>
            <a:srgbClr val="06B6D4">
              <a:alpha val="32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16152" y="327355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618488" y="3273552"/>
            <a:ext cx="338328" cy="320040"/>
          </a:xfrm>
          <a:prstGeom prst="rect">
            <a:avLst/>
          </a:prstGeom>
          <a:solidFill>
            <a:srgbClr val="06B6D4">
              <a:alpha val="32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18488" y="327355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121408" y="3200400"/>
            <a:ext cx="2240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3: Entity Relationships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2121408" y="3456432"/>
            <a:ext cx="2240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 to whom; co-reference resolution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56032" y="3840480"/>
            <a:ext cx="4224528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56032" y="3840480"/>
            <a:ext cx="64008" cy="6400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11480" y="4005072"/>
            <a:ext cx="338328" cy="320040"/>
          </a:xfrm>
          <a:prstGeom prst="rect">
            <a:avLst/>
          </a:prstGeom>
          <a:solidFill>
            <a:srgbClr val="10B981">
              <a:alpha val="32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1480" y="400507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813816" y="4005072"/>
            <a:ext cx="338328" cy="320040"/>
          </a:xfrm>
          <a:prstGeom prst="rect">
            <a:avLst/>
          </a:prstGeom>
          <a:solidFill>
            <a:srgbClr val="10B981">
              <a:alpha val="32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3816" y="400507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216152" y="4005072"/>
            <a:ext cx="338328" cy="320040"/>
          </a:xfrm>
          <a:prstGeom prst="rect">
            <a:avLst/>
          </a:prstGeom>
          <a:solidFill>
            <a:srgbClr val="10B981">
              <a:alpha val="32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16152" y="400507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618488" y="4005072"/>
            <a:ext cx="338328" cy="320040"/>
          </a:xfrm>
          <a:prstGeom prst="rect">
            <a:avLst/>
          </a:prstGeom>
          <a:solidFill>
            <a:srgbClr val="10B981">
              <a:alpha val="32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618488" y="4005072"/>
            <a:ext cx="338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121408" y="3931920"/>
            <a:ext cx="2240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4: Long-Range Dependencies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2121408" y="4187952"/>
            <a:ext cx="2240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 resolution, cross-sentence logical dependencies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56032" y="4636008"/>
            <a:ext cx="4224528" cy="274320"/>
          </a:xfrm>
          <a:prstGeom prst="rect">
            <a:avLst/>
          </a:prstGeom>
          <a:solidFill>
            <a:srgbClr val="F43F5E">
              <a:alpha val="15000"/>
            </a:srgbClr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7472" y="4636008"/>
            <a:ext cx="4041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Masking: future tokens masked with −∞ so the model cannot look ahead during generation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663440" y="1316736"/>
            <a:ext cx="4224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DECODER BLOCK  (stacked 12–96× in production models)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663440" y="1664208"/>
            <a:ext cx="4224528" cy="429768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4663440" y="1664208"/>
            <a:ext cx="64008" cy="4297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00600" y="1700784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Logits → Softmax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800600" y="1892808"/>
            <a:ext cx="39776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Next-token probability over full vocabulary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702552" y="2093976"/>
            <a:ext cx="73152" cy="73152"/>
          </a:xfrm>
          <a:prstGeom prst="rect">
            <a:avLst/>
          </a:prstGeom>
          <a:solidFill>
            <a:srgbClr val="94A3B8">
              <a:alpha val="6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663440" y="2157984"/>
            <a:ext cx="4224528" cy="429768"/>
          </a:xfrm>
          <a:prstGeom prst="rect">
            <a:avLst/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663440" y="2157984"/>
            <a:ext cx="64008" cy="42976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800600" y="219456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Normalisation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4800600" y="2386584"/>
            <a:ext cx="39776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Stabilises activation magnitudes between sub-layers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6702552" y="2587752"/>
            <a:ext cx="73152" cy="73152"/>
          </a:xfrm>
          <a:prstGeom prst="rect">
            <a:avLst/>
          </a:prstGeom>
          <a:solidFill>
            <a:srgbClr val="94A3B8">
              <a:alpha val="6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663440" y="2651760"/>
            <a:ext cx="4224528" cy="429768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4663440" y="2651760"/>
            <a:ext cx="64008" cy="4297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00600" y="2688336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Feed-Forward Network (FFN)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4800600" y="2880360"/>
            <a:ext cx="39776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linear projections + ReLU / GeLU activation function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702552" y="3081528"/>
            <a:ext cx="73152" cy="73152"/>
          </a:xfrm>
          <a:prstGeom prst="rect">
            <a:avLst/>
          </a:prstGeom>
          <a:solidFill>
            <a:srgbClr val="94A3B8">
              <a:alpha val="6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663440" y="3145536"/>
            <a:ext cx="4224528" cy="429768"/>
          </a:xfrm>
          <a:prstGeom prst="rect">
            <a:avLst/>
          </a:prstGeom>
          <a:solidFill>
            <a:srgbClr val="FFFFFF"/>
          </a:solidFill>
          <a:ln w="15240">
            <a:solidFill>
              <a:srgbClr val="94A3B8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4663440" y="3145536"/>
            <a:ext cx="64008" cy="42976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800600" y="3182112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Normalisation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800600" y="3374136"/>
            <a:ext cx="39776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Stabilises activation magnitudes between sub-layers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6702552" y="3575304"/>
            <a:ext cx="73152" cy="73152"/>
          </a:xfrm>
          <a:prstGeom prst="rect">
            <a:avLst/>
          </a:prstGeom>
          <a:solidFill>
            <a:srgbClr val="94A3B8">
              <a:alpha val="6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663440" y="3639312"/>
            <a:ext cx="4224528" cy="429768"/>
          </a:xfrm>
          <a:prstGeom prst="rect">
            <a:avLst/>
          </a:prstGeom>
          <a:solidFill>
            <a:srgbClr val="FFFFFF"/>
          </a:solidFill>
          <a:ln w="15240">
            <a:solidFill>
              <a:srgbClr val="06B6D4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4663440" y="3639312"/>
            <a:ext cx="64008" cy="42976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800600" y="3675888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Multi-Head Attention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800600" y="3867912"/>
            <a:ext cx="39776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self-attention across all parallel heads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6702552" y="4069080"/>
            <a:ext cx="73152" cy="73152"/>
          </a:xfrm>
          <a:prstGeom prst="rect">
            <a:avLst/>
          </a:prstGeom>
          <a:solidFill>
            <a:srgbClr val="94A3B8">
              <a:alpha val="6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663440" y="4133088"/>
            <a:ext cx="4224528" cy="429768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84" name="Shape 82"/>
          <p:cNvSpPr/>
          <p:nvPr/>
        </p:nvSpPr>
        <p:spPr>
          <a:xfrm>
            <a:off x="4663440" y="4133088"/>
            <a:ext cx="64008" cy="4297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800600" y="4169664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Embeddings + Positional Encoding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800600" y="4361688"/>
            <a:ext cx="39776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ID → dense vector + sinusoidal / learned position signal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4663440" y="4636008"/>
            <a:ext cx="4224528" cy="274320"/>
          </a:xfrm>
          <a:prstGeom prst="rect">
            <a:avLst/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736592" y="4636008"/>
            <a:ext cx="4078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(skip) connections bypass each sub-layer — prevents vanishing gradients in deep stacks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760720" y="-914400"/>
            <a:ext cx="5029200" cy="5029200"/>
          </a:xfrm>
          <a:prstGeom prst="ellipse">
            <a:avLst/>
          </a:prstGeom>
          <a:solidFill>
            <a:srgbClr val="10B981">
              <a:alpha val="8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2743200"/>
            <a:ext cx="2743200" cy="274320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 04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371600"/>
            <a:ext cx="77724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Context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&amp; Temperature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concepts every LLM practitioner must internalise before building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3822192"/>
            <a:ext cx="256032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01168"/>
            <a:ext cx="64008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Tokenisation: How Text Becomes Numbers the Model Can Process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85953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96112"/>
            <a:ext cx="8595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→  GPT-4o tokenisation (100K vocab, Byte-Pair Encoding):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207008"/>
            <a:ext cx="726948" cy="475488"/>
          </a:xfrm>
          <a:prstGeom prst="rect">
            <a:avLst/>
          </a:prstGeom>
          <a:solidFill>
            <a:srgbClr val="8B5CF6">
              <a:alpha val="26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207008"/>
            <a:ext cx="7269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1728216"/>
            <a:ext cx="7269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9000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056132" y="1207008"/>
            <a:ext cx="937260" cy="475488"/>
          </a:xfrm>
          <a:prstGeom prst="rect">
            <a:avLst/>
          </a:prstGeom>
          <a:solidFill>
            <a:srgbClr val="3B82F6">
              <a:alpha val="26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6132" y="1207008"/>
            <a:ext cx="9372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56132" y="1728216"/>
            <a:ext cx="9372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10571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048256" y="1207008"/>
            <a:ext cx="621792" cy="475488"/>
          </a:xfrm>
          <a:prstGeom prst="rect">
            <a:avLst/>
          </a:prstGeom>
          <a:solidFill>
            <a:srgbClr val="06B6D4">
              <a:alpha val="26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48256" y="1207008"/>
            <a:ext cx="6217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don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48256" y="1728216"/>
            <a:ext cx="62179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12142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24912" y="1207008"/>
            <a:ext cx="411480" cy="475488"/>
          </a:xfrm>
          <a:prstGeom prst="rect">
            <a:avLst/>
          </a:prstGeom>
          <a:solidFill>
            <a:srgbClr val="10B981">
              <a:alpha val="26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24912" y="1207008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24912" y="1728216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13713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191256" y="1207008"/>
            <a:ext cx="726948" cy="475488"/>
          </a:xfrm>
          <a:prstGeom prst="rect">
            <a:avLst/>
          </a:prstGeom>
          <a:solidFill>
            <a:srgbClr val="F59E0B">
              <a:alpha val="26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91256" y="1207008"/>
            <a:ext cx="7269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read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91256" y="1728216"/>
            <a:ext cx="7269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15284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973068" y="1207008"/>
            <a:ext cx="832104" cy="475488"/>
          </a:xfrm>
          <a:prstGeom prst="rect">
            <a:avLst/>
          </a:prstGeom>
          <a:solidFill>
            <a:srgbClr val="F43F5E">
              <a:alpha val="26000"/>
            </a:srgbClr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73068" y="1207008"/>
            <a:ext cx="8321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words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973068" y="1728216"/>
            <a:ext cx="8321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16855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860036" y="1207008"/>
            <a:ext cx="411480" cy="475488"/>
          </a:xfrm>
          <a:prstGeom prst="rect">
            <a:avLst/>
          </a:prstGeom>
          <a:solidFill>
            <a:srgbClr val="8B5CF6">
              <a:alpha val="26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60036" y="1207008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—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60036" y="1728216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18426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326380" y="1207008"/>
            <a:ext cx="726948" cy="475488"/>
          </a:xfrm>
          <a:prstGeom prst="rect">
            <a:avLst/>
          </a:prstGeom>
          <a:solidFill>
            <a:srgbClr val="3B82F6">
              <a:alpha val="26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26380" y="1207008"/>
            <a:ext cx="7269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they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26380" y="1728216"/>
            <a:ext cx="7269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19997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108192" y="1207008"/>
            <a:ext cx="726948" cy="475488"/>
          </a:xfrm>
          <a:prstGeom prst="rect">
            <a:avLst/>
          </a:prstGeom>
          <a:solidFill>
            <a:srgbClr val="06B6D4">
              <a:alpha val="26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08192" y="1207008"/>
            <a:ext cx="7269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read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08192" y="1728216"/>
            <a:ext cx="7269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21568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6890004" y="1207008"/>
            <a:ext cx="937260" cy="475488"/>
          </a:xfrm>
          <a:prstGeom prst="rect">
            <a:avLst/>
          </a:prstGeom>
          <a:solidFill>
            <a:srgbClr val="10B981">
              <a:alpha val="26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90004" y="1207008"/>
            <a:ext cx="9372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tokens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90004" y="1728216"/>
            <a:ext cx="9372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23139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274320" y="19202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Each coloured block = 1 token   ·   Numbers below = integer IDs fed to the model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56032" y="2286000"/>
            <a:ext cx="207568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56032" y="2286000"/>
            <a:ext cx="2075688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60120" y="2414016"/>
            <a:ext cx="658368" cy="658368"/>
          </a:xfrm>
          <a:prstGeom prst="ellipse">
            <a:avLst/>
          </a:prstGeom>
          <a:solidFill>
            <a:srgbClr val="10B981">
              <a:alpha val="8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0120" y="2414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¾ word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3163824"/>
            <a:ext cx="1892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token ≈ ¾ English word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65760" y="3547872"/>
            <a:ext cx="185623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~1.3 tokens per word on average. A 750-word page ≈ 1,000 tokens. A 10-page doc ≈ 5,000–8,000 tokens.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468880" y="2286000"/>
            <a:ext cx="207568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68880" y="2286000"/>
            <a:ext cx="2075688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172968" y="2414016"/>
            <a:ext cx="658368" cy="658368"/>
          </a:xfrm>
          <a:prstGeom prst="ellipse">
            <a:avLst/>
          </a:prstGeom>
          <a:solidFill>
            <a:srgbClr val="10B981">
              <a:alpha val="8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172968" y="2414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Cost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560320" y="3163824"/>
            <a:ext cx="1892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is per-token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578608" y="3547872"/>
            <a:ext cx="185623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costs apply to both input (prompt) and output (completion) tokens. Longer contexts cost more to run.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681728" y="2286000"/>
            <a:ext cx="207568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81728" y="2286000"/>
            <a:ext cx="2075688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385816" y="2414016"/>
            <a:ext cx="658368" cy="658368"/>
          </a:xfrm>
          <a:prstGeom prst="ellipse">
            <a:avLst/>
          </a:prstGeom>
          <a:solidFill>
            <a:srgbClr val="10B981">
              <a:alpha val="8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85816" y="2414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773168" y="3163824"/>
            <a:ext cx="1892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Byte-Pair Encoding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791456" y="3547872"/>
            <a:ext cx="185623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Iteratively merges frequent character pairs into sub-word units. Rare words fragment into multiple tokens.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94576" y="2286000"/>
            <a:ext cx="207568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6894576" y="2286000"/>
            <a:ext cx="2075688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598664" y="2414016"/>
            <a:ext cx="658368" cy="658368"/>
          </a:xfrm>
          <a:prstGeom prst="ellipse">
            <a:avLst/>
          </a:prstGeom>
          <a:solidFill>
            <a:srgbClr val="10B981">
              <a:alpha val="8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598664" y="2414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986016" y="3163824"/>
            <a:ext cx="1892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variance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004304" y="3547872"/>
            <a:ext cx="185623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/ Japanese ≈ 1 char per token. Rare scripts may use 3–5 tokens per character. Efficiency varies significantly.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01168"/>
            <a:ext cx="64008" cy="5029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Window: The Working Memory of an LLM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85953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987552"/>
            <a:ext cx="8631936" cy="960120"/>
          </a:xfrm>
          <a:prstGeom prst="rect">
            <a:avLst/>
          </a:prstGeom>
          <a:solidFill>
            <a:srgbClr val="EFF6FF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987552"/>
            <a:ext cx="1554480" cy="960120"/>
          </a:xfrm>
          <a:prstGeom prst="rect">
            <a:avLst/>
          </a:prstGeom>
          <a:solidFill>
            <a:srgbClr val="8B5CF6">
              <a:alpha val="28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" y="987552"/>
            <a:ext cx="1463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10512" y="987552"/>
            <a:ext cx="3657600" cy="960120"/>
          </a:xfrm>
          <a:prstGeom prst="rect">
            <a:avLst/>
          </a:prstGeom>
          <a:solidFill>
            <a:srgbClr val="3B82F6">
              <a:alpha val="28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56232" y="987552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Conversation / Retrieved Context (RAG)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68112" y="987552"/>
            <a:ext cx="1691640" cy="960120"/>
          </a:xfrm>
          <a:prstGeom prst="rect">
            <a:avLst/>
          </a:prstGeom>
          <a:solidFill>
            <a:srgbClr val="06B6D4">
              <a:alpha val="2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13832" y="987552"/>
            <a:ext cx="1600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159752" y="987552"/>
            <a:ext cx="1417320" cy="960120"/>
          </a:xfrm>
          <a:prstGeom prst="rect">
            <a:avLst/>
          </a:prstGeom>
          <a:solidFill>
            <a:srgbClr val="10B981">
              <a:alpha val="28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05472" y="987552"/>
            <a:ext cx="1325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(output)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851392" y="822960"/>
            <a:ext cx="36576" cy="1289304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99248" y="54864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56032" y="2039112"/>
            <a:ext cx="8631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All tokens in this window are visible to the model simultaneously in the attention mechanism →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56032" y="2377440"/>
            <a:ext cx="8631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Window Comparison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56032" y="2715768"/>
            <a:ext cx="863193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" y="2715768"/>
            <a:ext cx="54864" cy="38404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2336" y="273405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4.6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749040" y="2734056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 tokens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77840" y="273405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~750,000 words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6032" y="3099816"/>
            <a:ext cx="8631936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6032" y="3099816"/>
            <a:ext cx="54864" cy="3840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2336" y="311810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749040" y="3118104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 tokens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77840" y="311810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~750,000 words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032" y="3483864"/>
            <a:ext cx="863193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6032" y="3483864"/>
            <a:ext cx="54864" cy="38404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350215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749040" y="3502152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 tokens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577840" y="350215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~750,000 words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6032" y="3867912"/>
            <a:ext cx="8631936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6032" y="3867912"/>
            <a:ext cx="54864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2336" y="38862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3.1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749040" y="388620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 tokens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577840" y="38862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~750,000 words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56032" y="4251960"/>
            <a:ext cx="863193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6032" y="4251960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02336" y="427024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4 Maverick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749040" y="4270248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 tokens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577840" y="427024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~750,000 words (open-source)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56032" y="4709160"/>
            <a:ext cx="8631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Models degrade on information buried in the middle of very long contexts (the "lost-in-the-middle" problem)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01168"/>
            <a:ext cx="64008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&amp; Sampling Parameters: Controlling Output Variability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85953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Chart 0"/>
          <p:cNvGraphicFramePr/>
          <p:nvPr/>
        </p:nvGraphicFramePr>
        <p:xfrm>
          <a:off x="256032" y="896112"/>
          <a:ext cx="512064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932688"/>
            <a:ext cx="3291840" cy="1307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77840" y="932688"/>
            <a:ext cx="64008" cy="1307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0" y="1005840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 (T)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715000" y="1261872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0.0 – 2.0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715000" y="143560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raw logits before softmax. T=0: greedy/deterministic. Low T: peaked (predictable). High T: flat (creative). Example — prompt “The sky is ___”: T=0.1 → always “blue” · T=0.7 → “blue”, “clear”, “bright” · T=1.5 → “blue”, “weeping”, “falling”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715000" y="1938528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T ≈ 0 for deterministic tasks (extraction, code, math). T ≈ 0.7–1.0 for balanced text. T &gt; 1.0 for brainstorming.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577840" y="2340864"/>
            <a:ext cx="3291840" cy="1307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577840" y="2340864"/>
            <a:ext cx="64008" cy="13075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15000" y="2414016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 (Nucleus Sampling)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715000" y="2670048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0.0 – 1.0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715000" y="2843784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Cumulates tokens until total probability ≥ P. Example (P=0.90): blue 45%+clear 28%+grey 15%=88%, add purple 7%→95% — so Top-P=0.90 keeps {blue, clear, grey, purple}. Adapts to how concentrated or spread the distribution is.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715000" y="3346704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Top-P = 0.95 is a common default. Combine with moderate temperature.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577840" y="3749040"/>
            <a:ext cx="3291840" cy="1307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577840" y="3749040"/>
            <a:ext cx="64008" cy="1307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15000" y="3822192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Sampling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715000" y="4078224"/>
            <a:ext cx="3063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1 – vocab size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715000" y="425196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Restricts to the K highest-probability tokens. Example (K=3): from {blue 45%, clear 28%, grey 15%, purple 7%, red 5%}, only {blue, clear, grey} remain — red and purple are cut. Fast and simple, but fixed regardless of distribution spread.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5715000" y="4754880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K = 40–50 is typical. Some models combine Top-K with Top-P for finer control.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01168"/>
            <a:ext cx="64008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Next-Word Predictor to Helpful Assistant: Two Training Stages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85953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914400"/>
            <a:ext cx="4114800" cy="3995928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914400"/>
            <a:ext cx="4114800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9144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PRE-TRAINING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" y="1453896"/>
            <a:ext cx="4114800" cy="621792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508760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35024" y="1508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next token (self-supervised — no labels needed)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47472" y="2130552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35024" y="213055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internet text: books, web pages, code — trillions of tokens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6032" y="2697480"/>
            <a:ext cx="4114800" cy="621792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" y="2752344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35024" y="2752344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GPT-3: 175B parameters · 300B tokens · ~$4M GPU compute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47472" y="3374136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35024" y="3374136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model: powerful at completion, not instruction-following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56032" y="3941064"/>
            <a:ext cx="4114800" cy="621792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" y="3995928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35024" y="3995928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 "The capital of France is…"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Output continues the text, may not give a direct answer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0" y="914400"/>
            <a:ext cx="4315968" cy="3995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0" y="914400"/>
            <a:ext cx="4315968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914400"/>
            <a:ext cx="4315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SUPERVISED FINE-TUNING (SFT)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0" y="1453896"/>
            <a:ext cx="4315968" cy="621792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1508760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650992" y="1508760"/>
            <a:ext cx="312724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instructions safely and helpfully (aligned with human values)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663440" y="2130552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50992" y="2130552"/>
            <a:ext cx="312724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High-quality human-annotated dialogues — 10K–100K curated examples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0" y="2697480"/>
            <a:ext cx="4315968" cy="621792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2752344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650992" y="2752344"/>
            <a:ext cx="312724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Fine-tunes the base model — far cheaper than pre-training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663440" y="3374136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50992" y="3374136"/>
            <a:ext cx="312724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chat model: follows instructions, answers clearly, refuses unsafe requests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0" y="3941064"/>
            <a:ext cx="4315968" cy="621792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3995928"/>
            <a:ext cx="960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50992" y="3995928"/>
            <a:ext cx="312724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 "What is the capital of France?"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Output: "The capital of France is Paris."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01168"/>
            <a:ext cx="64008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Symphony of a Single Token: Complete End-to-End Pipeline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795528"/>
            <a:ext cx="859536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896112"/>
            <a:ext cx="8631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of matrix multiplications, contextual shifts, and probability calculations — all executing in milliseconds, autoregressively, for every single token generated.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56032" y="1298448"/>
            <a:ext cx="2011680" cy="1572768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298448"/>
            <a:ext cx="2011680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444752"/>
            <a:ext cx="347472" cy="347472"/>
          </a:xfrm>
          <a:prstGeom prst="ellipse">
            <a:avLst/>
          </a:prstGeom>
          <a:solidFill>
            <a:srgbClr val="8B5CF6">
              <a:alpha val="85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4447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04672" y="1463040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Text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1865376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"Translate to French: Hello" — user input as a plain text string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0" y="2048256"/>
            <a:ext cx="73152" cy="73152"/>
          </a:xfrm>
          <a:prstGeom prst="rect">
            <a:avLst/>
          </a:prstGeom>
          <a:solidFill>
            <a:srgbClr val="94A3B8">
              <a:alpha val="7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77440" y="1298448"/>
            <a:ext cx="2011680" cy="1572768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377440" y="1298448"/>
            <a:ext cx="2011680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87168" y="1444752"/>
            <a:ext cx="347472" cy="347472"/>
          </a:xfrm>
          <a:prstGeom prst="ellipse">
            <a:avLst/>
          </a:prstGeom>
          <a:solidFill>
            <a:srgbClr val="3B82F6">
              <a:alpha val="8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87168" y="14447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26080" y="1463040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BPE Tokenisation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487168" y="1865376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integer IDs via Byte-Pair Encoding vocabulary (~50K–100K tokens)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407408" y="2048256"/>
            <a:ext cx="73152" cy="73152"/>
          </a:xfrm>
          <a:prstGeom prst="rect">
            <a:avLst/>
          </a:prstGeom>
          <a:solidFill>
            <a:srgbClr val="94A3B8">
              <a:alpha val="7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98848" y="1298448"/>
            <a:ext cx="2011680" cy="1572768"/>
          </a:xfrm>
          <a:prstGeom prst="rect">
            <a:avLst/>
          </a:prstGeom>
          <a:solidFill>
            <a:srgbClr val="FFFFFF"/>
          </a:solidFill>
          <a:ln w="19050">
            <a:solidFill>
              <a:srgbClr val="06B6D4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498848" y="1298448"/>
            <a:ext cx="201168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08576" y="1444752"/>
            <a:ext cx="347472" cy="347472"/>
          </a:xfrm>
          <a:prstGeom prst="ellipse">
            <a:avLst/>
          </a:prstGeom>
          <a:solidFill>
            <a:srgbClr val="06B6D4">
              <a:alpha val="8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08576" y="14447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47488" y="1463040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Embeddings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608576" y="1865376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ID → dense vector (512–12,288 dimensions depending on model)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528816" y="2048256"/>
            <a:ext cx="73152" cy="73152"/>
          </a:xfrm>
          <a:prstGeom prst="rect">
            <a:avLst/>
          </a:prstGeom>
          <a:solidFill>
            <a:srgbClr val="94A3B8">
              <a:alpha val="7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20256" y="1298448"/>
            <a:ext cx="2011680" cy="1572768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620256" y="1298448"/>
            <a:ext cx="201168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29984" y="1444752"/>
            <a:ext cx="347472" cy="347472"/>
          </a:xfrm>
          <a:prstGeom prst="ellipse">
            <a:avLst/>
          </a:prstGeom>
          <a:solidFill>
            <a:srgbClr val="10B981">
              <a:alpha val="8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29984" y="14447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168896" y="1463040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 Encoding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729984" y="1865376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Sinusoidal or learned position signal added to each token vector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56032" y="3090672"/>
            <a:ext cx="2011680" cy="157276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56032" y="3090672"/>
            <a:ext cx="20116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" y="3236976"/>
            <a:ext cx="347472" cy="347472"/>
          </a:xfrm>
          <a:prstGeom prst="ellipse">
            <a:avLst/>
          </a:prstGeom>
          <a:solidFill>
            <a:srgbClr val="F59E0B">
              <a:alpha val="8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2369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04672" y="3255264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(QKV)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65760" y="3657600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attends to all prior tokens; context shifts representations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286000" y="3840480"/>
            <a:ext cx="73152" cy="73152"/>
          </a:xfrm>
          <a:prstGeom prst="rect">
            <a:avLst/>
          </a:prstGeom>
          <a:solidFill>
            <a:srgbClr val="94A3B8">
              <a:alpha val="7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77440" y="3090672"/>
            <a:ext cx="2011680" cy="1572768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377440" y="3090672"/>
            <a:ext cx="2011680" cy="731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487168" y="3236976"/>
            <a:ext cx="347472" cy="347472"/>
          </a:xfrm>
          <a:prstGeom prst="ellipse">
            <a:avLst/>
          </a:prstGeom>
          <a:solidFill>
            <a:srgbClr val="8B5CF6">
              <a:alpha val="85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87168" y="32369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926080" y="3255264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Feed-Forward Network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487168" y="3657600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linear + activation per decoder layer; entire stack repeated N times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07408" y="3840480"/>
            <a:ext cx="73152" cy="73152"/>
          </a:xfrm>
          <a:prstGeom prst="rect">
            <a:avLst/>
          </a:prstGeom>
          <a:solidFill>
            <a:srgbClr val="94A3B8">
              <a:alpha val="7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98848" y="3090672"/>
            <a:ext cx="2011680" cy="1572768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498848" y="3090672"/>
            <a:ext cx="2011680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08576" y="3236976"/>
            <a:ext cx="347472" cy="347472"/>
          </a:xfrm>
          <a:prstGeom prst="ellipse">
            <a:avLst/>
          </a:prstGeom>
          <a:solidFill>
            <a:srgbClr val="3B82F6">
              <a:alpha val="8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08576" y="32369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047488" y="3255264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Distribution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608576" y="3657600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hidden state → logits → probability over full vocabulary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8816" y="3840480"/>
            <a:ext cx="73152" cy="73152"/>
          </a:xfrm>
          <a:prstGeom prst="rect">
            <a:avLst/>
          </a:prstGeom>
          <a:solidFill>
            <a:srgbClr val="94A3B8">
              <a:alpha val="7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20256" y="3090672"/>
            <a:ext cx="2011680" cy="1572768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6620256" y="3090672"/>
            <a:ext cx="201168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29984" y="3236976"/>
            <a:ext cx="347472" cy="347472"/>
          </a:xfrm>
          <a:prstGeom prst="ellipse">
            <a:avLst/>
          </a:prstGeom>
          <a:solidFill>
            <a:srgbClr val="10B981">
              <a:alpha val="8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29984" y="32369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168896" y="3255264"/>
            <a:ext cx="13533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&amp; Output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6729984" y="3657600"/>
            <a:ext cx="17922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+ Top-P filter applied → one token selected → appended to context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256032" y="2926080"/>
            <a:ext cx="8631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steps 5 &amp; 6 repeat through each of the N decoder layers  ↓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-1371600"/>
            <a:ext cx="4572000" cy="4572000"/>
          </a:xfrm>
          <a:prstGeom prst="ellipse">
            <a:avLst/>
          </a:prstGeom>
          <a:solidFill>
            <a:srgbClr val="06B6D4">
              <a:alpha val="7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3657600"/>
            <a:ext cx="2286000" cy="2286000"/>
          </a:xfrm>
          <a:prstGeom prst="ellipse">
            <a:avLst/>
          </a:prstGeom>
          <a:solidFill>
            <a:srgbClr val="8B5CF6">
              <a:alpha val="7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4389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77724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to Carry Forward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74320" y="1691640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50392" y="1673352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⊃ ML ⊃ DL ⊃ GenAI — nested, not competing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50392" y="201168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layered paradigms. Enterprises typically adopt in this order over years. Each unlocks new use cases the previous could not handle.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3246120"/>
            <a:ext cx="457200" cy="45720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50392" y="3227832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AI and Generative AI solve different problems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0392" y="35661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maps inputs to fixed outputs. Generative samples new content from a learned distribution. Choosing the wrong tool is a common and costly mistake.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54880" y="1691640"/>
            <a:ext cx="457200" cy="45720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30952" y="1673352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compute probability, not truth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30952" y="201168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is a probabilistic sample, not a lookup. Same prompt = different outputs. Design systems that tolerate or explicitly control this variance.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54880" y="3246120"/>
            <a:ext cx="457200" cy="4572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330952" y="3227832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budget, context depth, and temperature are engineering levers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30952" y="35661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count drives cost. Context window limits reasoning depth. Temperature controls reproducibility. Tune all three deliberately for every use case.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4709160"/>
            <a:ext cx="859536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2529</Words>
  <Application>Microsoft Office PowerPoint</Application>
  <PresentationFormat>On-screen Show (16:9)</PresentationFormat>
  <Paragraphs>439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Rules to Reasoning</dc:title>
  <dc:subject>PptxGenJS Presentation</dc:subject>
  <dc:creator>PptxGenJS</dc:creator>
  <cp:lastModifiedBy>Ravindranath Tagore Durairaj</cp:lastModifiedBy>
  <cp:revision>1</cp:revision>
  <dcterms:created xsi:type="dcterms:W3CDTF">2026-03-20T04:15:03Z</dcterms:created>
  <dcterms:modified xsi:type="dcterms:W3CDTF">2026-03-20T04:24:37Z</dcterms:modified>
</cp:coreProperties>
</file>