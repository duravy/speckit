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64748B"/>
                </a:solidFill>
                <a:latin typeface="Arial"/>
              </a:rPr>
              <a:t>% Enterprise Adoption (illustrative trend)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Rule-Based Systems</c:v>
                </c:pt>
              </c:strCache>
            </c:strRef>
          </c:tx>
          <c:spPr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</c:v>
                </c:pt>
                <c:pt idx="1">
                  <c:v>68</c:v>
                </c:pt>
                <c:pt idx="2">
                  <c:v>65</c:v>
                </c:pt>
                <c:pt idx="3">
                  <c:v>60</c:v>
                </c:pt>
                <c:pt idx="4">
                  <c:v>52</c:v>
                </c:pt>
                <c:pt idx="5">
                  <c:v>46</c:v>
                </c:pt>
                <c:pt idx="6">
                  <c:v>38</c:v>
                </c:pt>
                <c:pt idx="7">
                  <c:v>30</c:v>
                </c:pt>
                <c:pt idx="8">
                  <c:v>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CA1-4EA9-B347-A2F8EBA257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Classical ML (Predictive)</c:v>
                </c:pt>
              </c:strCache>
            </c:strRef>
          </c:tx>
          <c:spPr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</c:v>
                </c:pt>
                <c:pt idx="1">
                  <c:v>14</c:v>
                </c:pt>
                <c:pt idx="2">
                  <c:v>22</c:v>
                </c:pt>
                <c:pt idx="3">
                  <c:v>36</c:v>
                </c:pt>
                <c:pt idx="4">
                  <c:v>55</c:v>
                </c:pt>
                <c:pt idx="5">
                  <c:v>70</c:v>
                </c:pt>
                <c:pt idx="6">
                  <c:v>80</c:v>
                </c:pt>
                <c:pt idx="7">
                  <c:v>78</c:v>
                </c:pt>
                <c:pt idx="8">
                  <c:v>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CA1-4EA9-B347-A2F8EBA257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Deep Learning</c:v>
                </c:pt>
              </c:strCache>
            </c:strRef>
          </c:tx>
          <c:spPr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5</c:v>
                </c:pt>
                <c:pt idx="5">
                  <c:v>20</c:v>
                </c:pt>
                <c:pt idx="6">
                  <c:v>48</c:v>
                </c:pt>
                <c:pt idx="7">
                  <c:v>64</c:v>
                </c:pt>
                <c:pt idx="8">
                  <c:v>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CA1-4EA9-B347-A2F8EBA257F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Generative AI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18</c:v>
                </c:pt>
                <c:pt idx="8">
                  <c:v>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9CA1-4EA9-B347-A2F8EBA25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64748B"/>
                </a:solidFill>
                <a:latin typeface="Arial"/>
              </a:rPr>
              <a:t>Token Probability (%) at Different Temperatures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T=0.1  (near-deterministic)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"bonjour"</c:v>
                </c:pt>
                <c:pt idx="1">
                  <c:v>"salut"</c:v>
                </c:pt>
                <c:pt idx="2">
                  <c:v>"bonsoir"</c:v>
                </c:pt>
                <c:pt idx="3">
                  <c:v>"allô"</c:v>
                </c:pt>
                <c:pt idx="4">
                  <c:v>"hola"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8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CA-488B-B86F-2A1DAC10F0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T=0.7  (balanced)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"bonjour"</c:v>
                </c:pt>
                <c:pt idx="1">
                  <c:v>"salut"</c:v>
                </c:pt>
                <c:pt idx="2">
                  <c:v>"bonsoir"</c:v>
                </c:pt>
                <c:pt idx="3">
                  <c:v>"allô"</c:v>
                </c:pt>
                <c:pt idx="4">
                  <c:v>"hola"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</c:v>
                </c:pt>
                <c:pt idx="1">
                  <c:v>28</c:v>
                </c:pt>
                <c:pt idx="2">
                  <c:v>15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CA-488B-B86F-2A1DAC10F0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T=1.5  (creative / random)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"bonjour"</c:v>
                </c:pt>
                <c:pt idx="1">
                  <c:v>"salut"</c:v>
                </c:pt>
                <c:pt idx="2">
                  <c:v>"bonsoir"</c:v>
                </c:pt>
                <c:pt idx="3">
                  <c:v>"allô"</c:v>
                </c:pt>
                <c:pt idx="4">
                  <c:v>"hola"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28</c:v>
                </c:pt>
                <c:pt idx="1">
                  <c:v>24</c:v>
                </c:pt>
                <c:pt idx="2">
                  <c:v>22</c:v>
                </c:pt>
                <c:pt idx="3">
                  <c:v>16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CA-488B-B86F-2A1DAC10F0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5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2011680"/>
            <a:ext cx="5486400" cy="54864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06B6D4">
              <a:alpha val="13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Rules to Reasoning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Guide to AI · Machine Learning · Deep Learning · Generative 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25603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566160"/>
            <a:ext cx="1920240" cy="457200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566160"/>
            <a:ext cx="1920240" cy="457200"/>
          </a:xfrm>
          <a:prstGeom prst="rect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566160"/>
            <a:ext cx="1920240" cy="457200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566160"/>
            <a:ext cx="1920240" cy="457200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 Series  ·  Technical Overview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Stack: Four Overlapping Paradigms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2029968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051560"/>
            <a:ext cx="658368" cy="65836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783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" y="2221992"/>
            <a:ext cx="1700784" cy="219456"/>
          </a:xfrm>
          <a:prstGeom prst="rect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22199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→ present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broadest umbrella. Any technique enabling machines to simulate human-like intelligence or decision-making.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Expert Systems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85616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Search &amp; Planning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Graphs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Constraint Solvers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59736" y="9144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9736" y="914400"/>
            <a:ext cx="20299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45536" y="1051560"/>
            <a:ext cx="658368" cy="658368"/>
          </a:xfrm>
          <a:prstGeom prst="ellipse">
            <a:avLst/>
          </a:prstGeom>
          <a:solidFill>
            <a:srgbClr val="3B82F6">
              <a:alpha val="8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51176" y="1783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624328" y="2221992"/>
            <a:ext cx="1700784" cy="219456"/>
          </a:xfrm>
          <a:prstGeom prst="rect">
            <a:avLst/>
          </a:prstGeom>
          <a:solidFill>
            <a:srgbClr val="3B82F6">
              <a:alpha val="1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222199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 → present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9464" y="25146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AI. Systems learn patterns from data without being explicitly programmed for every scenario.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9464" y="33832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69464" y="3566160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Linear/Logistic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9464" y="3785616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Random Forests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9464" y="4005072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SVMs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9464" y="4224528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Gradient Boosting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914400"/>
            <a:ext cx="202996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1051560"/>
            <a:ext cx="658368" cy="658368"/>
          </a:xfrm>
          <a:prstGeom prst="ellipse">
            <a:avLst/>
          </a:prstGeom>
          <a:solidFill>
            <a:srgbClr val="06B6D4">
              <a:alpha val="8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1783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28032" y="2221992"/>
            <a:ext cx="1700784" cy="219456"/>
          </a:xfrm>
          <a:prstGeom prst="rect">
            <a:avLst/>
          </a:prstGeom>
          <a:solidFill>
            <a:srgbClr val="06B6D4">
              <a:alpha val="16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22199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→ present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73168" y="25146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ML. Multi-layer neural nets automatically learn hierarchical representations from raw data.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33832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73168" y="3566160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CNNs (vision)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73168" y="3785616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RNNs / LSTMs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4005072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Transformers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73168" y="4224528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Diffusion Models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67144" y="9144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67144" y="914400"/>
            <a:ext cx="20299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52944" y="1051560"/>
            <a:ext cx="658368" cy="658368"/>
          </a:xfrm>
          <a:prstGeom prst="ellipse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2944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58584" y="17830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031736" y="2221992"/>
            <a:ext cx="1700784" cy="219456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31736" y="222199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→ present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76872" y="25146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deep learning (mainly Transformers) to generate new content: text, images, code, audio, and more.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76872" y="33832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976872" y="3566160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GPT-4 / Claude / Gemini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76872" y="3785616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DALL·E / Stable Diffusion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76872" y="4005072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GitHub Copilot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76872" y="4224528"/>
            <a:ext cx="181051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Sora (video)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paradigm is a strict subset of the one to its left  —  GenAI ⊂ Deep Learning ⊂ ML ⊂ 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Progression: From Hardcoded Rules to Learned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" y="1618488"/>
            <a:ext cx="1682496" cy="219456"/>
          </a:xfrm>
          <a:prstGeom prst="rect">
            <a:avLst/>
          </a:prstGeom>
          <a:solidFill>
            <a:srgbClr val="8B5CF6">
              <a:alpha val="1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61848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1990s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8328" y="191109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5740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Human-encoded IF/THEN logic, decision trees, and knowledge bases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27340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auditable, fully explainable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324612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" y="33924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on edge cases; expensive to maintain; doesn't scale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3904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8328" y="40507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 (medical), IBM Deep Blue, airline booking systems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76856" y="1216152"/>
            <a:ext cx="100584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14016" y="960120"/>
            <a:ext cx="2011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14016" y="960120"/>
            <a:ext cx="201168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05456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78608" y="1618488"/>
            <a:ext cx="1682496" cy="219456"/>
          </a:xfrm>
          <a:prstGeom prst="rect">
            <a:avLst/>
          </a:prstGeom>
          <a:solidFill>
            <a:srgbClr val="3B82F6">
              <a:alpha val="17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161848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– 2012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23744" y="191109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23744" y="205740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learn decision boundaries from labeled training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23744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340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data; handles complexity rules cannot cover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23744" y="324612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23744" y="33924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heavy feature engineering by domain experts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23744" y="3904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23744" y="40507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filters, credit scoring, recommendation engines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62272" y="1216152"/>
            <a:ext cx="100584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9432" y="960120"/>
            <a:ext cx="2011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99432" y="960120"/>
            <a:ext cx="201168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64024" y="1618488"/>
            <a:ext cx="1682496" cy="219456"/>
          </a:xfrm>
          <a:prstGeom prst="rect">
            <a:avLst/>
          </a:prstGeom>
          <a:solidFill>
            <a:srgbClr val="06B6D4">
              <a:alpha val="17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161848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2020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09160" y="191109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09160" y="205740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nets automatically learn raw feature hierarchies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09160" y="27340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extraction; near-human on vision &amp; speech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24612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09160" y="33924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massive data; black-box; expensive GPU compute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3904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09160" y="40507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(ImageNet), AlphaGo, speech recognition (ASR)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47688" y="1216152"/>
            <a:ext cx="100584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84848" y="960120"/>
            <a:ext cx="20116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84848" y="960120"/>
            <a:ext cx="20116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49440" y="1618488"/>
            <a:ext cx="1682496" cy="219456"/>
          </a:xfrm>
          <a:prstGeom prst="rect">
            <a:avLst/>
          </a:prstGeom>
          <a:solidFill>
            <a:srgbClr val="10B981">
              <a:alpha val="17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1618488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Present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94576" y="191109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894576" y="205740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pre-trained on internet-scale data; prompted at runtime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94576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894576" y="27340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General-purpose; few/zero-shot; multi-modal; fast iteration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94576" y="324612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894576" y="33924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Hallucinations; non-determinism; data governance challenges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94576" y="3904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894576" y="405079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Gemini, DALL·E, Stable Diffusion, Copilot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Adoption: How Organisations Typically Progress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896112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96012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960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941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First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207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reporting &amp; rule-based systems to build data infrastructure and governance.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63056" y="1417320"/>
            <a:ext cx="73152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187452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874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ML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121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in prod: churn, fraud detection, demand forecasting, recommendations.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63056" y="2331720"/>
            <a:ext cx="73152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9320" y="2788920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2770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Deep Learning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92240" y="3035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NLP, speech — requires significant MLOps and infra investment.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63056" y="3246120"/>
            <a:ext cx="73152" cy="4297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3703320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703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3685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3950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copilots, search, code gen, content, and agentic automation workflows.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645920"/>
            <a:ext cx="5029200" cy="50292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06B6D4">
              <a:alpha val="11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772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Generative AI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fundamentally different problem framings, training objectives, and output types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794760"/>
            <a:ext cx="256032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vs Generative AI: Two Different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402336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40233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14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453896"/>
            <a:ext cx="402336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9961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499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input X → deterministic label / value 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92938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19293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on human-labeled datasets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313432"/>
            <a:ext cx="402336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5915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class, probability score, or numeric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7889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788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same input always produces same prediction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172968"/>
            <a:ext cx="402336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21868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3218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 confidence scores / prediction intervals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" y="364845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tasks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6484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regression, ranking, anomaly detection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4032504"/>
            <a:ext cx="402336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07822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40782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prediction, fraud detection, demand forecasting,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engines, medical diagnosis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" y="450799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4507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AUC-ROC, RMSE, Precision / Recall / F1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914400"/>
            <a:ext cx="429768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914400"/>
            <a:ext cx="4297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914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1453896"/>
            <a:ext cx="42976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4996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16168" y="14996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distribution P(X); sample new plausible instances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19293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16168" y="19293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on massive unlabelled corpora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313432"/>
            <a:ext cx="42976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3591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16168" y="2359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Open-ended: text, image, code, audio, video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27889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Deterministic?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16168" y="27889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probabilistic; same prompt → varied outputs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3172968"/>
            <a:ext cx="42976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2186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16168" y="3218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in output diversity; hard to bound precisely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364845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tasks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16168" y="36484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generation, summarisation, Q&amp;A, code completion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4032504"/>
            <a:ext cx="429768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0782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16168" y="40782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Gemini, DALL·E, Stable Diffusion,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Sora (video)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63440" y="45079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16168" y="45079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BLEU, ROUGE, human eval, task-specific benchmarks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7772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LLMs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Do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30906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it's not a lookup table — it's probability over token sequences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25603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Probability Distributions Over Tokens, Not Fixed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15544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to French: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73936" y="1600200"/>
            <a:ext cx="109728" cy="73152"/>
          </a:xfrm>
          <a:prstGeom prst="rect">
            <a:avLst/>
          </a:prstGeom>
          <a:solidFill>
            <a:srgbClr val="94A3B8">
              <a:alpha val="6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005840"/>
            <a:ext cx="15544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integer IDs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(BPE / WordPiece)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11296" y="1600200"/>
            <a:ext cx="109728" cy="73152"/>
          </a:xfrm>
          <a:prstGeom prst="rect">
            <a:avLst/>
          </a:prstGeom>
          <a:solidFill>
            <a:srgbClr val="94A3B8">
              <a:alpha val="6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1005840"/>
            <a:ext cx="15544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3075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across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window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48656" y="1600200"/>
            <a:ext cx="109728" cy="73152"/>
          </a:xfrm>
          <a:prstGeom prst="rect">
            <a:avLst/>
          </a:prstGeom>
          <a:solidFill>
            <a:srgbClr val="94A3B8">
              <a:alpha val="6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94960" y="1005840"/>
            <a:ext cx="1554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6811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P(next token)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~50K–100K vocab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86016" y="1600200"/>
            <a:ext cx="109728" cy="73152"/>
          </a:xfrm>
          <a:prstGeom prst="rect">
            <a:avLst/>
          </a:prstGeom>
          <a:solidFill>
            <a:srgbClr val="94A3B8">
              <a:alpha val="6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005840"/>
            <a:ext cx="15544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1005840"/>
            <a:ext cx="1554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115568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05472" y="1527048"/>
            <a:ext cx="14081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token; append;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2487168"/>
            <a:ext cx="8631936" cy="96012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487168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542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2798064"/>
            <a:ext cx="8321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does NOT retrieve stored answers from a database. At each decoding step, it runs a full forward pass through billions of parameters and computes a probability distribution over its entire vocabulary (~50K–100K tokens). It samples one token, appends it to the context, and repeats — constructing the response token-by-token. This makes LLMs powerful generalisers but inherently non-deterministic and stateless.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P(next token | "Translate to French: Hello →")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4133088"/>
            <a:ext cx="47548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93192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7824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"bonjour"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81328" y="4338828"/>
            <a:ext cx="475488" cy="2971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413766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44752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"salut"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48256" y="4475988"/>
            <a:ext cx="475488" cy="1600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8256" y="427482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011680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"bonsoir"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15184" y="4544568"/>
            <a:ext cx="475488" cy="9144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15184" y="434340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78608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"allô"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182112" y="4578858"/>
            <a:ext cx="475488" cy="5715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82112" y="437769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45536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"hola"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749040" y="4601718"/>
            <a:ext cx="475488" cy="3429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440055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712464" y="46725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"other"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-914400"/>
            <a:ext cx="5029200" cy="50292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7772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&amp; Temperature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concepts every LLM practitioner must internalise before building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822192"/>
            <a:ext cx="25603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Tokenisation: How Text Becomes Numbers the Model Can Process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→  GPT-4o tokenisation (100K vocab, Byte-Pair Encoding):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726948" cy="475488"/>
          </a:xfrm>
          <a:prstGeom prst="rect">
            <a:avLst/>
          </a:prstGeom>
          <a:solidFill>
            <a:srgbClr val="8B5CF6">
              <a:alpha val="2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7269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28216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56132" y="1207008"/>
            <a:ext cx="937260" cy="475488"/>
          </a:xfrm>
          <a:prstGeom prst="rect">
            <a:avLst/>
          </a:prstGeom>
          <a:solidFill>
            <a:srgbClr val="3B82F6">
              <a:alpha val="2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6132" y="1207008"/>
            <a:ext cx="9372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6132" y="1728216"/>
            <a:ext cx="9372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10571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48256" y="1207008"/>
            <a:ext cx="621792" cy="475488"/>
          </a:xfrm>
          <a:prstGeom prst="rect">
            <a:avLst/>
          </a:prstGeom>
          <a:solidFill>
            <a:srgbClr val="06B6D4">
              <a:alpha val="26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1207008"/>
            <a:ext cx="621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48256" y="1728216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12142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24912" y="1207008"/>
            <a:ext cx="411480" cy="475488"/>
          </a:xfrm>
          <a:prstGeom prst="rect">
            <a:avLst/>
          </a:prstGeom>
          <a:solidFill>
            <a:srgbClr val="10B981">
              <a:alpha val="2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20700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24912" y="172821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13713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91256" y="1207008"/>
            <a:ext cx="726948" cy="475488"/>
          </a:xfrm>
          <a:prstGeom prst="rect">
            <a:avLst/>
          </a:prstGeom>
          <a:solidFill>
            <a:srgbClr val="F59E0B">
              <a:alpha val="2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1256" y="1207008"/>
            <a:ext cx="7269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91256" y="1728216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15284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73068" y="1207008"/>
            <a:ext cx="832104" cy="475488"/>
          </a:xfrm>
          <a:prstGeom prst="rect">
            <a:avLst/>
          </a:prstGeom>
          <a:solidFill>
            <a:srgbClr val="F43F5E">
              <a:alpha val="26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3068" y="1207008"/>
            <a:ext cx="8321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3068" y="1728216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16855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60036" y="1207008"/>
            <a:ext cx="411480" cy="475488"/>
          </a:xfrm>
          <a:prstGeom prst="rect">
            <a:avLst/>
          </a:prstGeom>
          <a:solidFill>
            <a:srgbClr val="8B5CF6">
              <a:alpha val="2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0036" y="120700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0036" y="172821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18426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26380" y="1207008"/>
            <a:ext cx="726948" cy="475488"/>
          </a:xfrm>
          <a:prstGeom prst="rect">
            <a:avLst/>
          </a:prstGeom>
          <a:solidFill>
            <a:srgbClr val="3B82F6">
              <a:alpha val="26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6380" y="1207008"/>
            <a:ext cx="7269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26380" y="1728216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19997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08192" y="1207008"/>
            <a:ext cx="726948" cy="475488"/>
          </a:xfrm>
          <a:prstGeom prst="rect">
            <a:avLst/>
          </a:prstGeom>
          <a:solidFill>
            <a:srgbClr val="06B6D4">
              <a:alpha val="26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1207008"/>
            <a:ext cx="7269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08192" y="1728216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21568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90004" y="1207008"/>
            <a:ext cx="937260" cy="475488"/>
          </a:xfrm>
          <a:prstGeom prst="rect">
            <a:avLst/>
          </a:prstGeom>
          <a:solidFill>
            <a:srgbClr val="10B981">
              <a:alpha val="2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0004" y="1207008"/>
            <a:ext cx="9372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tokens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0004" y="1728216"/>
            <a:ext cx="9372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23139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4320" y="19202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Each coloured block = 1 token   ·   Numbers below = integer IDs fed to the model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286000"/>
            <a:ext cx="2075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2286000"/>
            <a:ext cx="20756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" y="2414016"/>
            <a:ext cx="658368" cy="65836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414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¾ word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3163824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¾ English word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3547872"/>
            <a:ext cx="18562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 tokens per word on average. A 750-word page ≈ 1,000 tokens. A 10-page doc ≈ 5,000–8,000 tokens.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68880" y="2286000"/>
            <a:ext cx="2075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468880" y="2286000"/>
            <a:ext cx="20756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72968" y="2414016"/>
            <a:ext cx="658368" cy="65836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72968" y="2414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Cost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60320" y="3163824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per-token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578608" y="3547872"/>
            <a:ext cx="18562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costs apply to both input (prompt) and output (completion) tokens. Longer contexts cost more to run.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81728" y="2286000"/>
            <a:ext cx="2075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81728" y="2286000"/>
            <a:ext cx="20756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85816" y="2414016"/>
            <a:ext cx="658368" cy="65836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85816" y="2414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73168" y="3163824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Byte-Pair Encoding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91456" y="3547872"/>
            <a:ext cx="18562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merges frequent character pairs into sub-word units. Rare words fragment into multiple tokens.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94576" y="2286000"/>
            <a:ext cx="2075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94576" y="2286000"/>
            <a:ext cx="20756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98664" y="2414016"/>
            <a:ext cx="658368" cy="65836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98664" y="2414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86016" y="3163824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variance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04304" y="3547872"/>
            <a:ext cx="18562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/ Japanese ≈ 1 char per token. Rare scripts may use 3–5 tokens per character. Efficiency varies significantly.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The Working Memory of an LLM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87552"/>
            <a:ext cx="8631936" cy="960120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1554480" cy="960120"/>
          </a:xfrm>
          <a:prstGeom prst="rect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87552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10512" y="987552"/>
            <a:ext cx="3657600" cy="960120"/>
          </a:xfrm>
          <a:prstGeom prst="rect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98755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Conversation / Retrieved Context (RAG)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68112" y="987552"/>
            <a:ext cx="1691640" cy="960120"/>
          </a:xfrm>
          <a:prstGeom prst="rect">
            <a:avLst/>
          </a:prstGeom>
          <a:solidFill>
            <a:srgbClr val="06B6D4">
              <a:alpha val="2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3832" y="987552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59752" y="987552"/>
            <a:ext cx="1417320" cy="960120"/>
          </a:xfrm>
          <a:prstGeom prst="rect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987552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851392" y="822960"/>
            <a:ext cx="36576" cy="128930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5486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" y="2039112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 tokens in this window are visible to the model simultaneously in the attention mechanism 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" y="237744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Window Comparison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2715768"/>
            <a:ext cx="86319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715768"/>
            <a:ext cx="54864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734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Turbo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27340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 tokens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734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 words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099816"/>
            <a:ext cx="8631936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099816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1181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0" y="31181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1181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~96,000 words (~1 novel)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483864"/>
            <a:ext cx="86319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483864"/>
            <a:ext cx="54864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502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3502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502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~150,000 words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3867912"/>
            <a:ext cx="8631936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867912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886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49040" y="38862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tokens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3886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~750,000 words (experimental)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4251960"/>
            <a:ext cx="86319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425196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4270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(70B)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49040" y="42702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4270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~96,000 words (open weights)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" y="4709160"/>
            <a:ext cx="8631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Models degrade on information buried in the middle of very long contexts (the "lost-in-the-middle" problem)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Sampling Parameters: Controlling Output Variability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56032" y="896112"/>
          <a:ext cx="51206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32688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932688"/>
            <a:ext cx="64008" cy="1307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0058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 (T)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0" y="126187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 – 2.0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0" y="14356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raw logits before softmax. Low T = peaked distribution (predictable). High T = flat distribution (creative). T=0 = greedy decoding.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0" y="193852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 ≈ 0 for deterministic tasks (extraction, code, math). T ≈ 0.7–1.0 for balanced text. T &gt; 1.0 for brainstorming.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77840" y="2340864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340864"/>
            <a:ext cx="64008" cy="1307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241401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 (Nucleus Sampling)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2670048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 – 1.0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15000" y="284378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only from the smallest set of tokens whose cumulative probability ≥ P. Avoids low-probability "long tail" tokens while preserving natural diversity.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15000" y="334670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Top-P = 0.95 is a common default. Combine with moderate temperature.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3749040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749040"/>
            <a:ext cx="64008" cy="1307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38221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Sampling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15000" y="4078224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 – vocab size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715000" y="4251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sampling to the K highest-probability tokens, regardless of cumulative probability. Simpler than Top-P but less adaptive to context.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15000" y="47548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K = 40–50 is typical. Some models combine Top-K with Top-P for finer control.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2286000" cy="228600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to Carry Forward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6733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⊃ ML ⊃ DL ⊃ GenAI — nested, not competing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layered paradigms. Enterprises typically adopt in this order over years. Each unlocks new use cases the previous could not handle.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461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" y="32278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and Generative AI solve different problems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3566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maps inputs to fixed outputs. Generative samples new content from a learned distribution. Choosing the wrong tool is a common and costly mistake.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30952" y="16733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compute probability, not truth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30952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a probabilistic sample, not a lookup. Same prompt = different outputs. Design systems that tolerate or explicitly control this variance.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30952" y="32278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budget, context depth, and temperature are engineering levers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0952" y="3566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 drives cost. Context window limits reasoning depth. Temperature controls reproducibility. Tune all three deliberately for every use case.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709160"/>
            <a:ext cx="859536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 Series  ·  Technical Overview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1579</Words>
  <Application>Microsoft Office PowerPoint</Application>
  <PresentationFormat>On-screen Show (16:9)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Rules to Reasoning</dc:title>
  <dc:subject>PptxGenJS Presentation</dc:subject>
  <dc:creator>PptxGenJS</dc:creator>
  <cp:lastModifiedBy>Ravindranath Tagore Durairaj</cp:lastModifiedBy>
  <cp:revision>1</cp:revision>
  <dcterms:created xsi:type="dcterms:W3CDTF">2026-03-19T15:00:14Z</dcterms:created>
  <dcterms:modified xsi:type="dcterms:W3CDTF">2026-03-19T15:19:49Z</dcterms:modified>
</cp:coreProperties>
</file>