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00" b="0" i="0" u="none" strike="noStrike">
                <a:solidFill>
                  <a:srgbClr val="64748B"/>
                </a:solidFill>
                <a:latin typeface="Arial"/>
              </a:rPr>
              <a:t>% Enterprise Adoption (illustrative trend)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Rule-Based Systems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</c:v>
                </c:pt>
                <c:pt idx="1">
                  <c:v>68</c:v>
                </c:pt>
                <c:pt idx="2">
                  <c:v>65</c:v>
                </c:pt>
                <c:pt idx="3">
                  <c:v>60</c:v>
                </c:pt>
                <c:pt idx="4">
                  <c:v>52</c:v>
                </c:pt>
                <c:pt idx="5">
                  <c:v>46</c:v>
                </c:pt>
                <c:pt idx="6">
                  <c:v>38</c:v>
                </c:pt>
                <c:pt idx="7">
                  <c:v>30</c:v>
                </c:pt>
                <c:pt idx="8">
                  <c:v>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A08-416E-A701-DF1267EFD2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ML (Predictive)</c:v>
                </c:pt>
              </c:strCache>
            </c:strRef>
          </c:tx>
          <c:spPr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</c:v>
                </c:pt>
                <c:pt idx="1">
                  <c:v>14</c:v>
                </c:pt>
                <c:pt idx="2">
                  <c:v>22</c:v>
                </c:pt>
                <c:pt idx="3">
                  <c:v>36</c:v>
                </c:pt>
                <c:pt idx="4">
                  <c:v>55</c:v>
                </c:pt>
                <c:pt idx="5">
                  <c:v>70</c:v>
                </c:pt>
                <c:pt idx="6">
                  <c:v>80</c:v>
                </c:pt>
                <c:pt idx="7">
                  <c:v>78</c:v>
                </c:pt>
                <c:pt idx="8">
                  <c:v>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A08-416E-A701-DF1267EFD2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 Learning</c:v>
                </c:pt>
              </c:strCache>
            </c:strRef>
          </c:tx>
          <c:spPr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5</c:v>
                </c:pt>
                <c:pt idx="5">
                  <c:v>20</c:v>
                </c:pt>
                <c:pt idx="6">
                  <c:v>48</c:v>
                </c:pt>
                <c:pt idx="7">
                  <c:v>64</c:v>
                </c:pt>
                <c:pt idx="8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A08-416E-A701-DF1267EFD2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Generative AI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18</c:v>
                </c:pt>
                <c:pt idx="8">
                  <c:v>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A08-416E-A701-DF1267EFD2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00" b="0" i="0" u="none" strike="noStrike">
                <a:solidFill>
                  <a:srgbClr val="64748B"/>
                </a:solidFill>
                <a:latin typeface="Arial"/>
              </a:rPr>
              <a:t>Token Probability (%) at Different Temperatures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T=0.1  (near-deterministic)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8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02-4BC6-BE29-FED58C4BC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T=0.7  (balanced)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</c:v>
                </c:pt>
                <c:pt idx="1">
                  <c:v>28</c:v>
                </c:pt>
                <c:pt idx="2">
                  <c:v>15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02-4BC6-BE29-FED58C4BC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T=1.5  (creative / random)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22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02-4BC6-BE29-FED58C4BC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05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2011680"/>
            <a:ext cx="5486400" cy="5486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06B6D4">
              <a:alpha val="13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 to Reasoning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Guide to AI · Machine Learning · Deep Learning · Generative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2560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566160"/>
            <a:ext cx="1920240" cy="45720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566160"/>
            <a:ext cx="1920240" cy="45720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66160"/>
            <a:ext cx="1920240" cy="457200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Series  ·  Technical Overview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Stack: Four Overlapping Paradigms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0299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051560"/>
            <a:ext cx="658368" cy="65836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" y="2221992"/>
            <a:ext cx="1700784" cy="219456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→ present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umbrella. Any technique enabling machines to simulate human-like intelligence or decision-making.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Expert Systems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 &amp; Planning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Graphs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Constraint Solvers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9736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9736" y="914400"/>
            <a:ext cx="20299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1051560"/>
            <a:ext cx="658368" cy="658368"/>
          </a:xfrm>
          <a:prstGeom prst="ellipse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51176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24328" y="2221992"/>
            <a:ext cx="1700784" cy="219456"/>
          </a:xfrm>
          <a:prstGeom prst="rect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→ present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9464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AI. Systems learn patterns from data without being explicitly programmed for every scenario.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9464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69464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Linear/Logistic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9464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Random Forests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9464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SVMs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9464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Gradient Boosting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14400"/>
            <a:ext cx="20299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1051560"/>
            <a:ext cx="658368" cy="658368"/>
          </a:xfrm>
          <a:prstGeom prst="ellipse">
            <a:avLst/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28032" y="2221992"/>
            <a:ext cx="1700784" cy="219456"/>
          </a:xfrm>
          <a:prstGeom prst="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→ present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73168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ML. Multi-layer neural nets automatically learn hierarchical representations from raw data.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73168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CNNs (vision)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RNNs / LSTMs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Transformers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Diffusion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67144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67144" y="914400"/>
            <a:ext cx="20299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1051560"/>
            <a:ext cx="658368" cy="658368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58584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031736" y="2221992"/>
            <a:ext cx="1700784" cy="219456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31736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present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76872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 learning (mainly Transformers) to generate new content: text, images, code, audio, and more.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76872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76872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GPT-4 / Claude / Gemini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76872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DALL·E / Stable Diffusion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76872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 Copilot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76872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Sora (video)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paradigm is a strict subset of the one to its left  —  GenAI ⊂ Deep Learning ⊂ ML ⊂ 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Progression: From Hardcoded Rules to Learned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" y="1618488"/>
            <a:ext cx="1682496" cy="219456"/>
          </a:xfrm>
          <a:prstGeom prst="rect">
            <a:avLst/>
          </a:prstGeom>
          <a:solidFill>
            <a:srgbClr val="8B5CF6">
              <a:alpha val="1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1990s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Human-encoded IF/THEN logic, decision trees, and knowledge bases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auditable, fully explainable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on edge cases; expensive to maintain; doesn't scale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 (medical), IBM Deep Blue, airline booking systems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76856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14016" y="960120"/>
            <a:ext cx="201168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05456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78608" y="1618488"/>
            <a:ext cx="1682496" cy="219456"/>
          </a:xfrm>
          <a:prstGeom prst="rect">
            <a:avLst/>
          </a:prstGeom>
          <a:solidFill>
            <a:srgbClr val="3B82F6">
              <a:alpha val="17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– 2012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23744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23744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learn decision boundaries from labeled training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23744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data; handles complexity rules cannot cover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23744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heavy feature engineering by domain experts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23744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filters, credit scoring, recommendation engines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62272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9432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99432" y="960120"/>
            <a:ext cx="201168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64024" y="1618488"/>
            <a:ext cx="1682496" cy="219456"/>
          </a:xfrm>
          <a:prstGeom prst="rect">
            <a:avLst/>
          </a:prstGeom>
          <a:solidFill>
            <a:srgbClr val="06B6D4">
              <a:alpha val="1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09160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nets automatically learn raw feature hierarchies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9160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extraction; near-human on vision &amp; speech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09160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massive data; black-box; expensive GPU compute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(ImageNet), AlphaGo, speech recognition (ASR)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47688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84848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84848" y="960120"/>
            <a:ext cx="20116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49440" y="1618488"/>
            <a:ext cx="1682496" cy="219456"/>
          </a:xfrm>
          <a:prstGeom prst="rect">
            <a:avLst/>
          </a:prstGeom>
          <a:solidFill>
            <a:srgbClr val="10B981">
              <a:alpha val="17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Present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94576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94576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pre-trained on internet-scale data; prompted at runtime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94576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94576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General-purpose; few/zero-shot; multi-modal; fast iteration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94576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94576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Hallucinations; non-determinism; data governance challenges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94576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94576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Gemini, DALL·E, Stable Diffusion, Copilot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Adoption: How Organisations Typically Progress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896112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601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960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941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First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207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reporting &amp; rule-based systems to build data infrastructure and governance.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63056" y="14173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8745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874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ML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in prod: churn, fraud detection, demand forecasting, recommendations.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3056" y="23317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278892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770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Deep Learning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3035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NLP, speech — requires significant MLOps and infra investment.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63056" y="32461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370332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3685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950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copilots, search, code gen, content, and agentic automation workflows.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645920"/>
            <a:ext cx="5029200" cy="50292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6B6D4">
              <a:alpha val="11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Generative AI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fundamentally different problem framings, training objectives, and output types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794760"/>
            <a:ext cx="25603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vs Generative AI: Two Different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02336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023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453896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996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499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input X → deterministic label / value 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9293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929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on human-labeled datasets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313432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91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class, probability score, or numeric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7889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same input always produces same prediction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172968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1868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confidence scores / prediction intervals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364845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tasks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6484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regression, ranking, anomaly detection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4032504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782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40782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prediction, fraud detection, demand forecasting,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engines, medical diagnosis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45079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AUC-ROC, RMSE, Precision / Recall / F1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429768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453896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4996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16168" y="14996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distribution P(X); sample new plausible instances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19293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16168" y="19293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on massive unlabelled corpora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313432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3591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16168" y="2359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Open-ended: text, image, code, audio, video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2788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16168" y="27889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probabilistic; same prompt → varied outputs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172968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2186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16168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 output diversity; hard to bound precisely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6484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tasks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16168" y="36484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summarisation, Q&amp;A, code completion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4032504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0782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16168" y="40782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Gemini, DALL·E, Stable Diffusion,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Sora (video)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45079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16168" y="4507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ROUGE, human eval, task-specific benchmarks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Do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30906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it's not a lookup table — it's probability over token sequences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2560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Probability Distributions Over Tokens, Not Fixed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1554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to French: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7393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005840"/>
            <a:ext cx="1554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integer IDs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(BPE / WordPiece)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1129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005840"/>
            <a:ext cx="15544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3075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across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window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4865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100584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11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P(next token)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~50K–100K vocab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8601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100584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0547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token; append;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2487168"/>
            <a:ext cx="8631936" cy="9601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487168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2798064"/>
            <a:ext cx="8321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NOT retrieve stored answers from a database. At each decoding step, it runs a full forward pass through billions of parameters and computes a probability distribution over its entire vocabulary (~50K–100K tokens). It samples one token, appends it to the context, and repeats — constructing the response token-by-token. This makes LLMs powerful generalisers but inherently non-deterministic and stateless.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P(next token | "Translate to French: Hello →")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133088"/>
            <a:ext cx="47548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9319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"bonjour"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81328" y="4338828"/>
            <a:ext cx="475488" cy="2971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413766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44752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"salut"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48256" y="4475988"/>
            <a:ext cx="475488" cy="1600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8256" y="42748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11680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"bonsoir"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15184" y="4544568"/>
            <a:ext cx="475488" cy="9144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15184" y="434340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78608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"allô"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82112" y="4578858"/>
            <a:ext cx="475488" cy="5715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437769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45536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"hola"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49040" y="4601718"/>
            <a:ext cx="475488" cy="3429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40055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12464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"other"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How Tokens Become Meaningful Vectors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6012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token ID enters the model, it is mapped to a dense vector — hundreds of floating-point numbers encoding semantic meaning. Words with similar meanings cluster in this high-dimensional mathematical space.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783080"/>
            <a:ext cx="40233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ARITHMETIC  (Vector Operations)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121408"/>
            <a:ext cx="4023360" cy="438912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121408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21408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 −  Man  +  Woman  =  Queen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633472"/>
            <a:ext cx="4023360" cy="438912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633472"/>
            <a:ext cx="54864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33472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Beijing  −  China  +  Japan  =  Tokyo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145536"/>
            <a:ext cx="4023360" cy="438912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145536"/>
            <a:ext cx="54864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45536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"Paris is to France as Tokyo is to Japan"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694176"/>
            <a:ext cx="4023360" cy="11155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694176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49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Embedding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40050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 give "Apple" one fixed coordinate regardless of context — fruit or tech company? This is solved by Self-Attention, which dynamically shifts a token's representation based on surrounding words.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960120"/>
            <a:ext cx="4407408" cy="3849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987552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Space  (simplified 2D projection)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1325880"/>
            <a:ext cx="2148840" cy="123444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37960" y="134416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/ Gender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64808" y="1481328"/>
            <a:ext cx="420624" cy="23774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1481328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87768" y="1481328"/>
            <a:ext cx="420624" cy="23774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1481328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64808" y="1874520"/>
            <a:ext cx="420624" cy="23774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187452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1874520"/>
            <a:ext cx="420624" cy="237744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187452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23042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− Man + Woman = Queen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32320" y="2606040"/>
            <a:ext cx="1645920" cy="9601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178040" y="26334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13448" y="2798064"/>
            <a:ext cx="512064" cy="25603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27980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72400" y="2798064"/>
            <a:ext cx="512064" cy="25603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27980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2011680" cy="1143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617720" y="26334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2798064"/>
            <a:ext cx="457200" cy="25603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7980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209544"/>
            <a:ext cx="457200" cy="25603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2095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2798064"/>
            <a:ext cx="457200" cy="25603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27980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40680" y="3209544"/>
            <a:ext cx="457200" cy="25603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32095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13248" y="1847088"/>
            <a:ext cx="512064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184708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8928" y="213969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 no context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80560" y="4206240"/>
            <a:ext cx="4407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dimensions: 512 (GPT-2)  ·  1,600 (GPT-3)  ·  12,288 (GPT-4 estimated)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Context-Aware Meaning Through Q, K, V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96112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simultaneously asks for context (Query), advertises its information (Key), and delivers meaning (Value). This transforms static embeddings into context-dependent representations.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298448"/>
            <a:ext cx="32918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2984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 =  softmax( QKᵀ / √dₖ ) · 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783080"/>
            <a:ext cx="2852928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83080"/>
            <a:ext cx="285292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8562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I need to understand my own context?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7614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"Apple" asks: what words around me define what I am?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783080"/>
            <a:ext cx="2852928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783080"/>
            <a:ext cx="28529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18562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13048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context information do I have to advertise?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7614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"ate" broadcasts: I am a food/consumption verb.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81344" y="1783080"/>
            <a:ext cx="2852928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783080"/>
            <a:ext cx="285292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8562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75704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meaning payload do I deliver when attended to?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27614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contextual vector transferred to the querying token.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337560"/>
            <a:ext cx="8631936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33756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in Action: Resolving the Apple Ambiguity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6576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657600"/>
            <a:ext cx="64008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703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ate an Apple."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97764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"ate" has a high Key match (food/consumption). Apple's Query scores highest against food-related Keys. Its Value vector shifts toward the food cluster. Final contextual representation: fruit.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57600"/>
            <a:ext cx="64008" cy="1207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bought Apple stock."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18888" y="39776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"bought" and "stock" have high Key matches (finance/trading). Apple's Query scores highest against finance Keys. Its Value vector shifts toward the finance cluster. Final contextual representation: company.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&amp; the Decoder Block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96112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attention head is not enough. Multiple heads run in parallel, each specialising in a different linguistic dimension. These feed into the full decoder block, stacked N times.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316736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1645920"/>
            <a:ext cx="4224528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45920"/>
            <a:ext cx="64008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338328" cy="320040"/>
          </a:xfrm>
          <a:prstGeom prst="rect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13816" y="1810512"/>
            <a:ext cx="338328" cy="320040"/>
          </a:xfrm>
          <a:prstGeom prst="rect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81051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16152" y="1810512"/>
            <a:ext cx="338328" cy="320040"/>
          </a:xfrm>
          <a:prstGeom prst="rect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181051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18488" y="1810512"/>
            <a:ext cx="338328" cy="320040"/>
          </a:xfrm>
          <a:prstGeom prst="rect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8488" y="181051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21408" y="173736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1: Grammar &amp; Syntax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21408" y="199339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Subject-verb agreement, clause boundaries, parse structure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4224528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7744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542032"/>
            <a:ext cx="338328" cy="320040"/>
          </a:xfrm>
          <a:prstGeom prst="rect">
            <a:avLst/>
          </a:prstGeom>
          <a:solidFill>
            <a:srgbClr val="3B82F6">
              <a:alpha val="3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4203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13816" y="2542032"/>
            <a:ext cx="338328" cy="320040"/>
          </a:xfrm>
          <a:prstGeom prst="rect">
            <a:avLst/>
          </a:prstGeom>
          <a:solidFill>
            <a:srgbClr val="3B82F6">
              <a:alpha val="3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254203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16152" y="2542032"/>
            <a:ext cx="338328" cy="320040"/>
          </a:xfrm>
          <a:prstGeom prst="rect">
            <a:avLst/>
          </a:prstGeom>
          <a:solidFill>
            <a:srgbClr val="3B82F6">
              <a:alpha val="3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16152" y="254203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18488" y="2542032"/>
            <a:ext cx="338328" cy="320040"/>
          </a:xfrm>
          <a:prstGeom prst="rect">
            <a:avLst/>
          </a:prstGeom>
          <a:solidFill>
            <a:srgbClr val="3B82F6">
              <a:alpha val="3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8488" y="254203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21408" y="246888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2: Tone &amp; Sentiment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21408" y="272491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valence, formality level, positive/negative framing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3108960"/>
            <a:ext cx="4224528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108960"/>
            <a:ext cx="64008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273552"/>
            <a:ext cx="338328" cy="320040"/>
          </a:xfrm>
          <a:prstGeom prst="rect">
            <a:avLst/>
          </a:prstGeom>
          <a:solidFill>
            <a:srgbClr val="06B6D4">
              <a:alpha val="3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7355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3816" y="3273552"/>
            <a:ext cx="338328" cy="320040"/>
          </a:xfrm>
          <a:prstGeom prst="rect">
            <a:avLst/>
          </a:prstGeom>
          <a:solidFill>
            <a:srgbClr val="06B6D4">
              <a:alpha val="3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327355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216152" y="3273552"/>
            <a:ext cx="338328" cy="320040"/>
          </a:xfrm>
          <a:prstGeom prst="rect">
            <a:avLst/>
          </a:prstGeom>
          <a:solidFill>
            <a:srgbClr val="06B6D4">
              <a:alpha val="3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6152" y="327355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18488" y="3273552"/>
            <a:ext cx="338328" cy="320040"/>
          </a:xfrm>
          <a:prstGeom prst="rect">
            <a:avLst/>
          </a:prstGeom>
          <a:solidFill>
            <a:srgbClr val="06B6D4">
              <a:alpha val="3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18488" y="327355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21408" y="320040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3: Entity Relationships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21408" y="345643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to whom; co-reference resolution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3840480"/>
            <a:ext cx="4224528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3840480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4005072"/>
            <a:ext cx="338328" cy="320040"/>
          </a:xfrm>
          <a:prstGeom prst="rect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00507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13816" y="4005072"/>
            <a:ext cx="338328" cy="320040"/>
          </a:xfrm>
          <a:prstGeom prst="rect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" y="400507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216152" y="4005072"/>
            <a:ext cx="338328" cy="320040"/>
          </a:xfrm>
          <a:prstGeom prst="rect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16152" y="400507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18488" y="4005072"/>
            <a:ext cx="338328" cy="320040"/>
          </a:xfrm>
          <a:prstGeom prst="rect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18488" y="4005072"/>
            <a:ext cx="338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121408" y="39319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4: Long-Range Dependencies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121408" y="418795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resolution, cross-sentence logical dependencies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" y="4636008"/>
            <a:ext cx="4224528" cy="27432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636008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Masking: future tokens masked with −∞ so the model cannot look ahead during generation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663440" y="1316736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DECODER BLOCK  (stacked 12–96× in production models)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1664208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1664208"/>
            <a:ext cx="64008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7007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Logits → Softmax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1892808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probability over full vocabulary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02552" y="2093976"/>
            <a:ext cx="73152" cy="7315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2157984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63440" y="2157984"/>
            <a:ext cx="64008" cy="4297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21945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Normalisation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00600" y="2386584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activation magnitudes between sub-layers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02552" y="2587752"/>
            <a:ext cx="73152" cy="7315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2651760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63440" y="2651760"/>
            <a:ext cx="64008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26883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(FFN)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00600" y="2880360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linear projections + ReLU / GeLU activation function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702552" y="3081528"/>
            <a:ext cx="73152" cy="7315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3440" y="3145536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663440" y="3145536"/>
            <a:ext cx="64008" cy="4297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00600" y="31821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Normalisation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800600" y="3374136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activation magnitudes between sub-layers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702552" y="3575304"/>
            <a:ext cx="73152" cy="7315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3639312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663440" y="3639312"/>
            <a:ext cx="64008" cy="429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00600" y="36758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Attention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800600" y="3867912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self-attention across all parallel heads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702552" y="4069080"/>
            <a:ext cx="73152" cy="7315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63440" y="4133088"/>
            <a:ext cx="4224528" cy="429768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4663440" y="4133088"/>
            <a:ext cx="64008" cy="429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00600" y="41696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Embeddings + Positional Encoding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800600" y="4361688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 → dense vector + sinusoidal / learned position signal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63440" y="4636008"/>
            <a:ext cx="4224528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36592" y="463600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(skip) connections bypass each sub-layer — prevents vanishing gradients in deep stacks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-914400"/>
            <a:ext cx="5029200" cy="50292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7772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Temperature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concepts every LLM practitioner must internalise before building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822192"/>
            <a:ext cx="2560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Tokenisation: How Text Becomes Numbers the Model Can Process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→  GPT-4o tokenisation (100K vocab, Byte-Pair Encoding):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726948" cy="475488"/>
          </a:xfrm>
          <a:prstGeom prst="rect">
            <a:avLst/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56132" y="1207008"/>
            <a:ext cx="937260" cy="475488"/>
          </a:xfrm>
          <a:prstGeom prst="rect">
            <a:avLst/>
          </a:prstGeom>
          <a:solidFill>
            <a:srgbClr val="3B82F6">
              <a:alpha val="2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" y="1207008"/>
            <a:ext cx="9372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6132" y="1728216"/>
            <a:ext cx="9372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10571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48256" y="1207008"/>
            <a:ext cx="621792" cy="475488"/>
          </a:xfrm>
          <a:prstGeom prst="rect">
            <a:avLst/>
          </a:prstGeom>
          <a:solidFill>
            <a:srgbClr val="06B6D4">
              <a:alpha val="2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207008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48256" y="172821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12142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24912" y="1207008"/>
            <a:ext cx="411480" cy="475488"/>
          </a:xfrm>
          <a:prstGeom prst="rect">
            <a:avLst/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2070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24912" y="17282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13713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91256" y="1207008"/>
            <a:ext cx="726948" cy="475488"/>
          </a:xfrm>
          <a:prstGeom prst="rect">
            <a:avLst/>
          </a:prstGeom>
          <a:solidFill>
            <a:srgbClr val="F59E0B">
              <a:alpha val="2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91256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15284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73068" y="1207008"/>
            <a:ext cx="832104" cy="475488"/>
          </a:xfrm>
          <a:prstGeom prst="rect">
            <a:avLst/>
          </a:prstGeom>
          <a:solidFill>
            <a:srgbClr val="F43F5E">
              <a:alpha val="26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3068" y="1207008"/>
            <a:ext cx="832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3068" y="1728216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16855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60036" y="1207008"/>
            <a:ext cx="411480" cy="475488"/>
          </a:xfrm>
          <a:prstGeom prst="rect">
            <a:avLst/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0036" y="12070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0036" y="17282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18426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26380" y="1207008"/>
            <a:ext cx="726948" cy="475488"/>
          </a:xfrm>
          <a:prstGeom prst="rect">
            <a:avLst/>
          </a:prstGeom>
          <a:solidFill>
            <a:srgbClr val="3B82F6">
              <a:alpha val="2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6380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6380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19997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08192" y="1207008"/>
            <a:ext cx="726948" cy="475488"/>
          </a:xfrm>
          <a:prstGeom prst="rect">
            <a:avLst/>
          </a:prstGeom>
          <a:solidFill>
            <a:srgbClr val="06B6D4">
              <a:alpha val="2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08192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21568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90004" y="1207008"/>
            <a:ext cx="937260" cy="475488"/>
          </a:xfrm>
          <a:prstGeom prst="rect">
            <a:avLst/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0004" y="1207008"/>
            <a:ext cx="9372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0004" y="1728216"/>
            <a:ext cx="9372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23139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" y="19202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Each coloured block = 1 token   ·   Numbers below = integer IDs fed to the model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¾ word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¾ English word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 tokens per word on average. A 750-word page ≈ 1,000 tokens. A 10-page doc ≈ 5,000–8,000 tokens.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68880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72968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72968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per-token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78608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 apply to both input (prompt) and output (completion) tokens. Longer contexts cost more to run.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81728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85816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85816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Encoding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91456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merges frequent character pairs into sub-word units. Rare words fragment into multiple tokens.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94576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94576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98664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98664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86016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variance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04304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/ Japanese ≈ 1 char per token. Rare scripts may use 3–5 tokens per character. Efficiency varies significantly.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The Working Memory of an LLM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8631936" cy="96012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1554480" cy="960120"/>
          </a:xfrm>
          <a:prstGeom prst="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8755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10512" y="987552"/>
            <a:ext cx="3657600" cy="960120"/>
          </a:xfrm>
          <a:prstGeom prst="rect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98755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Conversation / Retrieved Context (RAG)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68112" y="987552"/>
            <a:ext cx="1691640" cy="960120"/>
          </a:xfrm>
          <a:prstGeom prst="rect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987552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59752" y="987552"/>
            <a:ext cx="1417320" cy="960120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987552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51392" y="822960"/>
            <a:ext cx="36576" cy="12893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5486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203911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tokens in this window are visible to the model simultaneously in the attention mechanism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237744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Window Comparison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715768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715768"/>
            <a:ext cx="54864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Turbo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7340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 tokens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words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099816"/>
            <a:ext cx="8631936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099816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1181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31181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1181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~96,000 words (~1 novel)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483864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483864"/>
            <a:ext cx="54864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502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502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~150,000 words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867912"/>
            <a:ext cx="8631936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867912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3886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tokens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~750,000 words (experimental)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251960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425196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270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(70B)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49040" y="42702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4270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~96,000 words (open weights)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" y="4709160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Models degrade on information buried in the middle of very long contexts (the "lost-in-the-middle" problem)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Sampling Parameters: Controlling Output Variability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56032" y="896112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32688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32688"/>
            <a:ext cx="64008" cy="1307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0058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(T)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126187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 – 2.0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0" y="1435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raw logits before softmax. Low T = peaked distribution (predictable). High T = flat distribution (creative). T=0 = greedy decoding.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0" y="193852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 ≈ 0 for deterministic tasks (extraction, code, math). T ≈ 0.7–1.0 for balanced text. T &gt; 1.0 for brainstorming.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2340864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340864"/>
            <a:ext cx="64008" cy="1307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41401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 (Nucleus Sampling)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267004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 – 1.0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0" y="284378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only from the smallest set of tokens whose cumulative probability ≥ P. Avoids low-probability "long tail" tokens while preserving natural diversity.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0" y="33467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Top-P = 0.95 is a common default. Combine with moderate temperature.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3749040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749040"/>
            <a:ext cx="64008" cy="1307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38221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Sampling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0" y="4078224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– vocab size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0" y="4251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sampling to the K highest-probability tokens, regardless of cumulative probability. Simpler than Top-P but less adaptive to context.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15000" y="4754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K = 40–50 is typical. Some models combine Top-K with Top-P for finer control.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Next-Word Predictor to Helpful Assistant: Two Training Stages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11480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1148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PRE-TRAINING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453896"/>
            <a:ext cx="41148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35024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(self-supervised — no labels needed)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3055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35024" y="21305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internet text: books, web pages, code — trillions of tokens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97480"/>
            <a:ext cx="41148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52344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35024" y="2752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175B parameters · 300B tokens · ~$4M GPU compute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374136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35024" y="33741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model: powerful at completion, not instruction-following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941064"/>
            <a:ext cx="41148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959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35024" y="3995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"The capital of France is…"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continues the text, may not give a direct answer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315968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914400"/>
            <a:ext cx="431596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914400"/>
            <a:ext cx="4315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SUPERVISED FINE-TUNING (SFT)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1453896"/>
            <a:ext cx="4315968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5087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50992" y="15087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instructions safely and helpfully (aligned with human values)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13055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50992" y="2130552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human-annotated dialogues — 10K–100K curated examples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697480"/>
            <a:ext cx="4315968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52344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50992" y="2752344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the base model — far cheaper than pre-training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374136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3374136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model: follows instructions, answers clearly, refuses unsafe requests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941064"/>
            <a:ext cx="4315968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9959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50992" y="399592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"What is the capital of France?"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"The capital of France is Paris."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Symphony of a Single Token: Complete End-to-End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96112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matrix multiplications, contextual shifts, and probability calculations — all executing in milliseconds, autoregressively, for every single token generated.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347472" cy="347472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6304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65376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to French: Hello" — user input as a plain text string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048256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298448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298448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444752"/>
            <a:ext cx="347472" cy="347472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146304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Tokenisation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87168" y="1865376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integer IDs via Byte-Pair Encoding vocabulary (~50K–100K tokens)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07408" y="2048256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1298448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1298448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444752"/>
            <a:ext cx="347472" cy="34747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146304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08576" y="1865376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 → dense vector (512–12,288 dimensions depending on model)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28816" y="2048256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0256" y="1298448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0256" y="1298448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444752"/>
            <a:ext cx="347472" cy="34747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68896" y="146304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9984" y="1865376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or learned position signal added to each token vector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090672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090672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236976"/>
            <a:ext cx="347472" cy="347472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3255264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(QKV)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365760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attends to all prior tokens; context shifts representations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3840480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3090672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77440" y="3090672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87168" y="3236976"/>
            <a:ext cx="347472" cy="347472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3255264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487168" y="365760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linear + activation per decoder layer; entire stack repeated N times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07408" y="3840480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8848" y="3090672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98848" y="3090672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08576" y="3236976"/>
            <a:ext cx="347472" cy="347472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08576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47488" y="3255264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Distribution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08576" y="365760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hidden state → logits → probability over full vocabulary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8816" y="3840480"/>
            <a:ext cx="73152" cy="7315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0256" y="3090672"/>
            <a:ext cx="20116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620256" y="3090672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29984" y="3236976"/>
            <a:ext cx="347472" cy="34747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9984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68896" y="3255264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 Output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29984" y="365760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 Top-P filter applied → one token selected → appended to context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6032" y="292608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steps 5 &amp; 6 repeat through each of the N decoder layers  ↓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2286000" cy="22860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to Carry Forward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673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ML ⊃ DL ⊃ GenAI — nested, not competing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layered paradigms. Enterprises typically adopt in this order over years. Each unlocks new use cases the previous could not handle.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461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3227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and Generative AI solve different problems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maps inputs to fixed outputs. Generative samples new content from a learned distribution. Choosing the wrong tool is a common and costly mistake.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0952" y="1673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compute probability, not truth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0952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a probabilistic sample, not a lookup. Same prompt = different outputs. Design systems that tolerate or explicitly control this variance.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0952" y="3227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budget, context depth, and temperature are engineering levers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0952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drives cost. Context window limits reasoning depth. Temperature controls reproducibility. Tune all three deliberately for every use case.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5953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Series  ·  Technical Overview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2529</Words>
  <Application>Microsoft Office PowerPoint</Application>
  <PresentationFormat>On-screen Show (16:9)</PresentationFormat>
  <Paragraphs>439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Rules to Reasoning</dc:title>
  <dc:subject>PptxGenJS Presentation</dc:subject>
  <dc:creator>PptxGenJS</dc:creator>
  <cp:lastModifiedBy>Ravindranath Tagore Durairaj</cp:lastModifiedBy>
  <cp:revision>1</cp:revision>
  <dcterms:created xsi:type="dcterms:W3CDTF">2026-03-20T04:15:03Z</dcterms:created>
  <dcterms:modified xsi:type="dcterms:W3CDTF">2026-03-20T04:24:37Z</dcterms:modified>
</cp:coreProperties>
</file>