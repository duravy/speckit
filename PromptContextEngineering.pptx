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333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5186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800600"/>
            <a:ext cx="8732520" cy="3429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5120" y="274320"/>
            <a:ext cx="128016" cy="128016"/>
          </a:xfrm>
          <a:prstGeom prst="ellipse">
            <a:avLst/>
          </a:prstGeom>
          <a:solidFill>
            <a:srgbClr val="3B82F6">
              <a:alpha val="35000"/>
            </a:srgbClr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274320"/>
            <a:ext cx="128016" cy="128016"/>
          </a:xfrm>
          <a:prstGeom prst="ellipse">
            <a:avLst/>
          </a:prstGeom>
          <a:solidFill>
            <a:srgbClr val="3B82F6">
              <a:alpha val="35000"/>
            </a:srgbClr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0" y="274320"/>
            <a:ext cx="128016" cy="128016"/>
          </a:xfrm>
          <a:prstGeom prst="ellipse">
            <a:avLst/>
          </a:prstGeom>
          <a:solidFill>
            <a:srgbClr val="3B82F6">
              <a:alpha val="35000"/>
            </a:srgbClr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0" y="274320"/>
            <a:ext cx="128016" cy="128016"/>
          </a:xfrm>
          <a:prstGeom prst="ellipse">
            <a:avLst/>
          </a:prstGeom>
          <a:solidFill>
            <a:srgbClr val="3B82F6">
              <a:alpha val="35000"/>
            </a:srgbClr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0" y="274320"/>
            <a:ext cx="128016" cy="128016"/>
          </a:xfrm>
          <a:prstGeom prst="ellipse">
            <a:avLst/>
          </a:prstGeom>
          <a:solidFill>
            <a:srgbClr val="3B82F6">
              <a:alpha val="35000"/>
            </a:srgbClr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75120" y="731520"/>
            <a:ext cx="128016" cy="128016"/>
          </a:xfrm>
          <a:prstGeom prst="ellipse">
            <a:avLst/>
          </a:prstGeom>
          <a:solidFill>
            <a:srgbClr val="3B82F6">
              <a:alpha val="35000"/>
            </a:srgbClr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0" y="731520"/>
            <a:ext cx="128016" cy="128016"/>
          </a:xfrm>
          <a:prstGeom prst="ellipse">
            <a:avLst/>
          </a:prstGeom>
          <a:solidFill>
            <a:srgbClr val="3B82F6">
              <a:alpha val="35000"/>
            </a:srgbClr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89520" y="731520"/>
            <a:ext cx="128016" cy="128016"/>
          </a:xfrm>
          <a:prstGeom prst="ellipse">
            <a:avLst/>
          </a:prstGeom>
          <a:solidFill>
            <a:srgbClr val="3B82F6">
              <a:alpha val="35000"/>
            </a:srgbClr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731520"/>
            <a:ext cx="128016" cy="128016"/>
          </a:xfrm>
          <a:prstGeom prst="ellipse">
            <a:avLst/>
          </a:prstGeom>
          <a:solidFill>
            <a:srgbClr val="3B82F6">
              <a:alpha val="35000"/>
            </a:srgbClr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731520"/>
            <a:ext cx="128016" cy="128016"/>
          </a:xfrm>
          <a:prstGeom prst="ellipse">
            <a:avLst/>
          </a:prstGeom>
          <a:solidFill>
            <a:srgbClr val="3B82F6">
              <a:alpha val="35000"/>
            </a:srgbClr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0" y="1188720"/>
            <a:ext cx="128016" cy="128016"/>
          </a:xfrm>
          <a:prstGeom prst="ellipse">
            <a:avLst/>
          </a:prstGeom>
          <a:solidFill>
            <a:srgbClr val="3B82F6">
              <a:alpha val="35000"/>
            </a:srgbClr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0" y="1188720"/>
            <a:ext cx="128016" cy="128016"/>
          </a:xfrm>
          <a:prstGeom prst="ellipse">
            <a:avLst/>
          </a:prstGeom>
          <a:solidFill>
            <a:srgbClr val="3B82F6">
              <a:alpha val="35000"/>
            </a:srgbClr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89520" y="1188720"/>
            <a:ext cx="128016" cy="128016"/>
          </a:xfrm>
          <a:prstGeom prst="ellipse">
            <a:avLst/>
          </a:prstGeom>
          <a:solidFill>
            <a:srgbClr val="3B82F6">
              <a:alpha val="35000"/>
            </a:srgbClr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1188720"/>
            <a:ext cx="128016" cy="128016"/>
          </a:xfrm>
          <a:prstGeom prst="ellipse">
            <a:avLst/>
          </a:prstGeom>
          <a:solidFill>
            <a:srgbClr val="3B82F6">
              <a:alpha val="35000"/>
            </a:srgbClr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03920" y="1188720"/>
            <a:ext cx="128016" cy="128016"/>
          </a:xfrm>
          <a:prstGeom prst="ellipse">
            <a:avLst/>
          </a:prstGeom>
          <a:solidFill>
            <a:srgbClr val="3B82F6">
              <a:alpha val="35000"/>
            </a:srgbClr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75120" y="1645920"/>
            <a:ext cx="128016" cy="128016"/>
          </a:xfrm>
          <a:prstGeom prst="ellipse">
            <a:avLst/>
          </a:prstGeom>
          <a:solidFill>
            <a:srgbClr val="3B82F6">
              <a:alpha val="35000"/>
            </a:srgbClr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0" y="1645920"/>
            <a:ext cx="128016" cy="128016"/>
          </a:xfrm>
          <a:prstGeom prst="ellipse">
            <a:avLst/>
          </a:prstGeom>
          <a:solidFill>
            <a:srgbClr val="3B82F6">
              <a:alpha val="35000"/>
            </a:srgbClr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0" y="1645920"/>
            <a:ext cx="128016" cy="128016"/>
          </a:xfrm>
          <a:prstGeom prst="ellipse">
            <a:avLst/>
          </a:prstGeom>
          <a:solidFill>
            <a:srgbClr val="3B82F6">
              <a:alpha val="35000"/>
            </a:srgbClr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0" y="1645920"/>
            <a:ext cx="128016" cy="128016"/>
          </a:xfrm>
          <a:prstGeom prst="ellipse">
            <a:avLst/>
          </a:prstGeom>
          <a:solidFill>
            <a:srgbClr val="3B82F6">
              <a:alpha val="35000"/>
            </a:srgbClr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03920" y="1645920"/>
            <a:ext cx="128016" cy="128016"/>
          </a:xfrm>
          <a:prstGeom prst="ellipse">
            <a:avLst/>
          </a:prstGeom>
          <a:solidFill>
            <a:srgbClr val="3B82F6">
              <a:alpha val="35000"/>
            </a:srgbClr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91440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Context Engineering</a:t>
            </a:r>
            <a:endParaRPr lang="en-US" sz="4600" dirty="0"/>
          </a:p>
        </p:txBody>
      </p:sp>
      <p:sp>
        <p:nvSpPr>
          <p:cNvPr id="25" name="Text 23"/>
          <p:cNvSpPr/>
          <p:nvPr/>
        </p:nvSpPr>
        <p:spPr>
          <a:xfrm>
            <a:off x="685800" y="30175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Scalable, Maintainable AI Systems for Enterprise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85800" y="3703320"/>
            <a:ext cx="2286000" cy="365760"/>
          </a:xfrm>
          <a:prstGeom prst="rect">
            <a:avLst/>
          </a:prstGeom>
          <a:solidFill>
            <a:srgbClr val="06B6D4">
              <a:alpha val="1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3703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Deep Dive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822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Topics Covered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20624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43159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017520" y="365760"/>
            <a:ext cx="402336" cy="40233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17520" y="365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547872" y="320040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Types: System, User &amp; Contextual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017520" y="1033272"/>
            <a:ext cx="402336" cy="40233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17520" y="1033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547872" y="987552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and Few-shot Prompting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017520" y="1700784"/>
            <a:ext cx="402336" cy="40233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17520" y="1700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547872" y="1655064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Debugging Techniques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017520" y="2368296"/>
            <a:ext cx="402336" cy="40233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017520" y="2368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547872" y="2322576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Memory &amp; Conversation State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3017520" y="3035808"/>
            <a:ext cx="402336" cy="402336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017520" y="3035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3547872" y="2990088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Prompts Don't Scale in Production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3017520" y="3703320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017520" y="3703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3547872" y="3657600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Fundamentals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3017520" y="4370832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017520" y="4370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3547872" y="4325112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Budgeting &amp; Memory Boundaries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Types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269748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2697480" cy="8046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24712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051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11480" y="18105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Behavior &amp; Rules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11480" y="2176272"/>
            <a:ext cx="2423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overall model persona &amp; tone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behavioral rules and constraints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Specifies output format requirements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Remains persistent across the conversation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'constitution' of your AI system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46120" y="960120"/>
            <a:ext cx="269748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960120"/>
            <a:ext cx="2697480" cy="8046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124712"/>
            <a:ext cx="475488" cy="4754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77640" y="1051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Prompt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383280" y="18105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Query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383280" y="2176272"/>
            <a:ext cx="2423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the actual end-user request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dynamic per interaction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the primary model response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carry task-specific instructions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clearly scoped to avoid ambiguity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217920" y="960120"/>
            <a:ext cx="269748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17920" y="960120"/>
            <a:ext cx="2697480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124712"/>
            <a:ext cx="475488" cy="4754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49440" y="1051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Prompt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355080" y="18105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External Data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355080" y="2176272"/>
            <a:ext cx="2423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documents via RAG pipeline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 and memory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system state and metadata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 and preference data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to grounding model in real context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vs Few-shot Prompting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046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prompting strategy depends on task complexity and consistency requirements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397764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3977640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972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Prompting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1700784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examples — relies on model's built-in knowledge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Lower token cost per request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4963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Simple and fast to implement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88950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Works well for straightforward tasks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2826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No example curation overhead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6758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Less control over output structure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0690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Higher output variance in production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4622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Requires stronger base model capability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92040" y="1097280"/>
            <a:ext cx="397764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92040" y="1097280"/>
            <a:ext cx="3977640" cy="5486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0972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Prompting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0" y="1700784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examples to guide structure and reliability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2103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Higher output consistency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24963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Demonstrates expected format explicitly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0" y="288950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Reduces hallucination on structured tasks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32826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Reliable for classification/extraction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0" y="36758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Consumes more tokens per request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0" y="40690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Examples require careful curation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0" y="44622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Risk of overfitting to example patterns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206240" y="2560320"/>
            <a:ext cx="731520" cy="7315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Debugging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046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diagnosis — not trial-and-error — separates engineers from prompt tinkerers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69748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2697480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25296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87552" y="11521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11480" y="18745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Prompt Structure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11480" y="233172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how system, user, and context prompts are assembled. Look for conflicting instructions, missing role definitions, or ambiguous directives that confuse the model.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11480" y="338328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instruction clarity and specificity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conflicting or duplicate rules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context injection order and format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role boundaries between prompt types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46120" y="1097280"/>
            <a:ext cx="269748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46120" y="1097280"/>
            <a:ext cx="2697480" cy="7132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225296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959352" y="11521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383280" y="18745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Context Quality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383280" y="233172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model output often stems from low-quality injected context. Validate that retrieved documents, memory snippets, and metadata are accurate, relevant, and complete.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3383280" y="338328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retrieved document relevance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memory snippets aren't stale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context size vs. token budget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the exact context sent to the model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217920" y="1097280"/>
            <a:ext cx="269748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217920" y="1097280"/>
            <a:ext cx="269748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225296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931152" y="11521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355080" y="18745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Systematically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355080" y="233172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exactly one variable at a time. Maintain a test suite of known inputs and expected outputs. Never ship prompt changes without regression testing.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6355080" y="338328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variable changed per test cycle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 all prompt variants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regression test suite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outputs using structured eval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Memory &amp; Conversation State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046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 requires the right memory architecture — each approach has distinct engineering trade-offs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397764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3977640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07008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1887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Memory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38912" y="181051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In-session Conversation History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38912" y="2148840"/>
            <a:ext cx="3703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recent messages in every prompt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natural follow-up question handling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storage required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within-session corrections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8912" y="3566160"/>
            <a:ext cx="36118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8912" y="363931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Challenges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38912" y="397764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limit erosion over long sessions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 injection increases cost &amp; latency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context may dilute current relevance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92040" y="1097280"/>
            <a:ext cx="397764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892040" y="1097280"/>
            <a:ext cx="3977640" cy="6400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207008"/>
            <a:ext cx="420624" cy="42062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577840" y="11887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Memory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5056632" y="181051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Cross-session Knowledge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056632" y="2148840"/>
            <a:ext cx="3703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a database or vector store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user preferences and past decisions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personalization at enterprise scale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selectively via semantic search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056632" y="3566160"/>
            <a:ext cx="36118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056632" y="363931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Challenges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056632" y="397764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staleness requires TTL management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filtering adds retrieval complexity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and access control considerations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Prompts Don't Scale in Production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failure modes that emerge when prompt-only architectures meet real enterprise requirements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15768" cy="1554480"/>
          </a:xfrm>
          <a:prstGeom prst="rect">
            <a:avLst/>
          </a:prstGeom>
          <a:solidFill>
            <a:srgbClr val="0F172A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51560"/>
            <a:ext cx="182880" cy="15544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61288"/>
            <a:ext cx="2258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Unmaintainable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2258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versioning, no testing, no rollback. A single prompt change can silently break production behavior across all users.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715768" cy="1554480"/>
          </a:xfrm>
          <a:prstGeom prst="rect">
            <a:avLst/>
          </a:prstGeom>
          <a:solidFill>
            <a:srgbClr val="0F172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051560"/>
            <a:ext cx="182880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161288"/>
            <a:ext cx="2258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Bounded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1554480"/>
            <a:ext cx="2258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windows are hard limits. You cannot encode an enterprise knowledge base, full policy set, and conversation history simultaneously.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1051560"/>
            <a:ext cx="2715768" cy="1554480"/>
          </a:xfrm>
          <a:prstGeom prst="rect">
            <a:avLst/>
          </a:prstGeom>
          <a:solidFill>
            <a:srgbClr val="0F172A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051560"/>
            <a:ext cx="182880" cy="15544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1161288"/>
            <a:ext cx="2258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Brittle by Design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37960" y="1554480"/>
            <a:ext cx="2258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phrasing changes produce dramatically different outputs. Prompts are fragile artifacts, not robust software components.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743200"/>
            <a:ext cx="2715768" cy="1554480"/>
          </a:xfrm>
          <a:prstGeom prst="rect">
            <a:avLst/>
          </a:prstGeom>
          <a:solidFill>
            <a:srgbClr val="0F172A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43200"/>
            <a:ext cx="182880" cy="15544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852928"/>
            <a:ext cx="2258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Policy Encoding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3246120"/>
            <a:ext cx="2258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business rules, compliance requirements, and access controls cannot be reliably encoded in natural language instructions.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46120" y="2743200"/>
            <a:ext cx="2715768" cy="1554480"/>
          </a:xfrm>
          <a:prstGeom prst="rect">
            <a:avLst/>
          </a:prstGeom>
          <a:solidFill>
            <a:srgbClr val="0F172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46120" y="2743200"/>
            <a:ext cx="182880" cy="1554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2852928"/>
            <a:ext cx="2258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Separation of Concerns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566160" y="3246120"/>
            <a:ext cx="2258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persona, instructions, context, and data in one blob makes it impossible to test, debug, or iterate on components independently.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17920" y="2743200"/>
            <a:ext cx="2715768" cy="1554480"/>
          </a:xfrm>
          <a:prstGeom prst="rect">
            <a:avLst/>
          </a:prstGeom>
          <a:solidFill>
            <a:srgbClr val="0F172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2743200"/>
            <a:ext cx="182880" cy="1554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2852928"/>
            <a:ext cx="2258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via Duplication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37960" y="3246120"/>
            <a:ext cx="2258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multiple user types or contexts requires copying prompts. Each copy drifts over time, creating a maintenance nightmare.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Fundamentals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046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assemble the right context — not just write better prompt text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28346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97280"/>
            <a:ext cx="621792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225296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17043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0120" y="14996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query &amp; context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28600" y="1956816"/>
            <a:ext cx="28346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28600" y="1956816"/>
            <a:ext cx="621792" cy="7132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" y="2084832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60120" y="20299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Knowledge (RAG)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960120" y="23591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document retrieval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228600" y="2816352"/>
            <a:ext cx="28346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28600" y="2816352"/>
            <a:ext cx="621792" cy="7132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752" y="2944368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60120" y="288950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Instructions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960120" y="32186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Rules, persona, constraints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228600" y="3675888"/>
            <a:ext cx="28346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228600" y="3675888"/>
            <a:ext cx="621792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752" y="3803904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60120" y="37490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State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960120" y="40782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+ long-term store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3154680" y="24688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3B82F6"/>
                </a:solidFill>
              </a:rPr>
              <a:t>→</a:t>
            </a:r>
            <a:endParaRPr lang="en-US" sz="2200" dirty="0"/>
          </a:p>
        </p:txBody>
      </p:sp>
      <p:sp>
        <p:nvSpPr>
          <p:cNvPr id="27" name="Shape 21"/>
          <p:cNvSpPr/>
          <p:nvPr/>
        </p:nvSpPr>
        <p:spPr>
          <a:xfrm>
            <a:off x="3703320" y="1097280"/>
            <a:ext cx="1920240" cy="2926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60520" y="1280160"/>
            <a:ext cx="594360" cy="5943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703320" y="19202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Assembler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3703320" y="28346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3703320" y="3611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Token-aware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</a:t>
            </a:r>
            <a:endParaRPr lang="en-US" sz="950" dirty="0"/>
          </a:p>
        </p:txBody>
      </p:sp>
      <p:sp>
        <p:nvSpPr>
          <p:cNvPr id="32" name="Text 25"/>
          <p:cNvSpPr/>
          <p:nvPr/>
        </p:nvSpPr>
        <p:spPr>
          <a:xfrm>
            <a:off x="5715000" y="24688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3B82F6"/>
                </a:solidFill>
              </a:rPr>
              <a:t>→</a:t>
            </a:r>
            <a:endParaRPr lang="en-US" sz="2200" dirty="0"/>
          </a:p>
        </p:txBody>
      </p:sp>
      <p:sp>
        <p:nvSpPr>
          <p:cNvPr id="33" name="Shape 26"/>
          <p:cNvSpPr/>
          <p:nvPr/>
        </p:nvSpPr>
        <p:spPr>
          <a:xfrm>
            <a:off x="6263640" y="1600200"/>
            <a:ext cx="2606040" cy="1920240"/>
          </a:xfrm>
          <a:prstGeom prst="rect">
            <a:avLst/>
          </a:prstGeom>
          <a:solidFill>
            <a:srgbClr val="0F172A"/>
          </a:solidFill>
          <a:ln w="25400">
            <a:solidFill>
              <a:srgbClr val="06B6D4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1783080"/>
            <a:ext cx="530352" cy="530352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309360" y="235915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2000" dirty="0"/>
          </a:p>
        </p:txBody>
      </p:sp>
      <p:sp>
        <p:nvSpPr>
          <p:cNvPr id="36" name="Text 28"/>
          <p:cNvSpPr/>
          <p:nvPr/>
        </p:nvSpPr>
        <p:spPr>
          <a:xfrm>
            <a:off x="6309360" y="27889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· Predictable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· Reliable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6263640" y="4069080"/>
            <a:ext cx="2606040" cy="640080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6263640" y="40690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Budgeting &amp; Memory Boundaries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046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constraints must be balanced in every production context engineering decision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269748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78992"/>
            <a:ext cx="2697480" cy="914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261872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17043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Control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51560" y="15819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Budget Management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11480" y="2066544"/>
            <a:ext cx="2423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tokens per component: system prompt, context, response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 or summarize older conversation turns proactively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tokens before sending — not after observing failures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dense, structured context over verbose prose injection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per-request token usage in production telemetry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46120" y="1078992"/>
            <a:ext cx="269748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46120" y="1078992"/>
            <a:ext cx="2697480" cy="9144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1261872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23360" y="117043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023360" y="15819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Optimization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3383280" y="2066544"/>
            <a:ext cx="2423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context directly increases time-to-first-token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static system instructions using prefix caching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Precompute and store embeddings ahead of retrieval time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memory retrieval to avoid blocking the request cycle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context assembly time as a key engineering metric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217920" y="1078992"/>
            <a:ext cx="269748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17920" y="1078992"/>
            <a:ext cx="2697480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1261872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995160" y="117043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Quality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995160" y="15819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&amp; Relevance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6355080" y="2066544"/>
            <a:ext cx="2423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relevant context produces better-grounded answers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memory by recency score and semantic similarity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re-ranking to prioritize highest-signal retrieved docs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injected context against task type before use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context strategies using quality evaluation sets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046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phase, participants will be equipped to: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0690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201168" cy="1737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" y="1252728"/>
            <a:ext cx="475488" cy="47548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1289304"/>
            <a:ext cx="402336" cy="4023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07008" y="125272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Systematically Control LLM Behavior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12648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prompts, memory, and context to produce predictable, reliable model outputs — not just occasionally good results. Understand the levers available and when to use them.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617720" y="1051560"/>
            <a:ext cx="40690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17720" y="1051560"/>
            <a:ext cx="201168" cy="17373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56048" y="1252728"/>
            <a:ext cx="475488" cy="47548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624" y="1289304"/>
            <a:ext cx="402336" cy="40233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50408" y="125272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Prompt-Only Failure Modes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956048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exactly where and why prompt-only approaches break down at scale: token limits, maintainability debt, policy encoding limitations, and production fragility.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274320" y="2907792"/>
            <a:ext cx="40690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274320" y="2907792"/>
            <a:ext cx="201168" cy="1737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12648" y="3108960"/>
            <a:ext cx="475488" cy="47548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3145536"/>
            <a:ext cx="402336" cy="40233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07008" y="31089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Context Engineering Patterns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12648" y="3593592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AI systems that dynamically assemble context from user input, retrieved documents, system state, and memory — built for real-world enterprise deployment.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4617720" y="2907792"/>
            <a:ext cx="40690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617720" y="2907792"/>
            <a:ext cx="201168" cy="17373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956048" y="3108960"/>
            <a:ext cx="475488" cy="47548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624" y="3145536"/>
            <a:ext cx="402336" cy="40233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550408" y="31089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Scalable, Maintainable AI Systems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4956048" y="3593592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AI solutions with proper separation of concerns — testable, versionable, and upgradable components that can evolve without prompt regression nightmares.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9436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1143000"/>
            <a:ext cx="77724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AI systems are not built</a:t>
            </a:r>
            <a:endParaRPr lang="en-US" sz="3000" dirty="0"/>
          </a:p>
          <a:p>
            <a:pPr marL="0" indent="0" algn="l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writing better prompts alone,</a:t>
            </a:r>
            <a:endParaRPr lang="en-US" sz="3000" dirty="0"/>
          </a:p>
          <a:p>
            <a:pPr marL="0" indent="0" algn="l">
              <a:buNone/>
            </a:pPr>
            <a:r>
              <a:rPr lang="en-US" sz="3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by engineering the </a:t>
            </a:r>
            <a:r>
              <a:rPr lang="en-US" sz="3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context</a:t>
            </a:r>
            <a:r>
              <a:rPr lang="en-US" sz="3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around them.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94360" y="3639312"/>
            <a:ext cx="32004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3749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Message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" y="4114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Context Engineering — Technical Deep Dive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1116</Words>
  <Application>Microsoft Office PowerPoint</Application>
  <PresentationFormat>On-screen Show (16:9)</PresentationFormat>
  <Paragraphs>196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Engineering and Context Engineering</dc:title>
  <dc:subject>PptxGenJS Presentation</dc:subject>
  <dc:creator>Ravi</dc:creator>
  <cp:lastModifiedBy>Ravindranath Tagore Durairaj</cp:lastModifiedBy>
  <cp:revision>1</cp:revision>
  <dcterms:created xsi:type="dcterms:W3CDTF">2026-03-23T16:00:42Z</dcterms:created>
  <dcterms:modified xsi:type="dcterms:W3CDTF">2026-03-23T16:20:26Z</dcterms:modified>
</cp:coreProperties>
</file>